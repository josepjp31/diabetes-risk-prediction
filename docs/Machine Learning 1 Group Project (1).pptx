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nter Bold" charset="1" panose="020B0802030000000004"/>
      <p:regular r:id="rId21"/>
    </p:embeddedFont>
    <p:embeddedFont>
      <p:font typeface="Open Sans" charset="1" panose="020B0606030504020204"/>
      <p:regular r:id="rId22"/>
    </p:embeddedFont>
    <p:embeddedFont>
      <p:font typeface="Open Sans Bold" charset="1" panose="020B0806030504020204"/>
      <p:regular r:id="rId24"/>
    </p:embeddedFont>
    <p:embeddedFont>
      <p:font typeface="Inter Bold Italics" charset="1" panose="020B0802030000000004"/>
      <p:regular r:id="rId27"/>
    </p:embeddedFont>
    <p:embeddedFont>
      <p:font typeface="Inter" charset="1" panose="020B05020300000000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fonts/font27.fntdata" Type="http://schemas.openxmlformats.org/officeDocument/2006/relationships/font"/><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I will do the presentation of our Machine Learning project proposal that in our case is about Diabetes RIsk Protection and we want to Create and evaluate a machine learning model that would be able to predict the diabetes risk using health and lifestyle indicators.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Diabetes is a condition that is common among people of different stages of life. There are around 537 million diagnosed people worldwide, and experts predict that the number shall continue to rise in the future. It is a condition that occurs when your blood sugar level is too high. It develops when the person’s pancreas isn’t making enough insulin(or any) or when the person’s body isn’t properly responding to insulin’s effects. For glucose, which is the most important source of energy for the body, to reach its final destination it needs insulin, and if the body isn’t using the hormone correctly, the glucose builds up in the bloodsteam, which causes high blood sugar(hyperglycemia). High blood sugar over prolonged time could cause other health problems such as cardiovascular issues, nerve damage, and eye issues. Diabetes, in most cases, is a chronic disease, but it can be managed with medications and/or changes to one’s lifestyle.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Build binary classification models that are able to predict if a person has or doesn’t have diabetes. Create, evaluate, and compare different machine learning models to find the best model based on our goals. We want to assess the health impact of misclassification as false negatives will delay the treatment of a patient, while false positive could cause unnecessary stress both mentally and finantially. This impact will be incorporated into model selection. We also strive to identify which are the key risk factors that contribute to diabetes.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dataset we have chosen is the CDC Diabetes Health Indicators Dataset that contains both healthcare statistics and lifestyle information about people and their diagnosis of diabetes. There are 253k instances with 21 features including BMI, High Cholesterol, Smoker, Income, Age, Sex. Most variables are binary variables with a few being integer, and there are no missing values.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dataset we have chosen is the CDC Diabetes Health Indicators Dataset that contains both healthcare statistics and lifestyle information about people and their diagnosis of diabetes. There are 253k instances with 21 features including BMI, High Cholesterol, Smoker, Income, Age, Sex. Most variables are binary variables with a few being integer, and there are no missing values.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methodology starts with data preprocessing and visualization. First, we will check the distribution of the different classes(diabetes, no diabetes). </a:t>
            </a:r>
          </a:p>
          <a:p>
            <a:r>
              <a:rPr lang="en-US"/>
              <a:t>Then, we will look into how each feature is distributed based on the different classes. Lastly, we can check the correlation between the different features using a heatmap. </a:t>
            </a:r>
          </a:p>
          <a:p>
            <a:r>
              <a:rPr lang="en-US"/>
              <a:t/>
            </a:r>
          </a:p>
          <a:p>
            <a:r>
              <a:rPr lang="en-US"/>
              <a:t>The next step would be to deal with the class imbalance. There are three main ways to do this, which are resampling, class weight, and synthetic data generation.</a:t>
            </a:r>
          </a:p>
          <a:p>
            <a:r>
              <a:rPr lang="en-US"/>
              <a:t>We will decide which is best to use once we explore the dataset more. </a:t>
            </a:r>
          </a:p>
          <a:p>
            <a:r>
              <a:rPr lang="en-US"/>
              <a:t>After that, some features may need scaling, and we will need to remove extreme outliers. </a:t>
            </a:r>
          </a:p>
          <a:p>
            <a:r>
              <a:rPr lang="en-US"/>
              <a:t/>
            </a:r>
          </a:p>
          <a:p>
            <a:r>
              <a:rPr lang="en-US"/>
              <a:t>Lastly, we will split the dataset into training and testing data with stratification so that the class distribution is preserved in both the train and test sets.   </a:t>
            </a:r>
          </a:p>
          <a:p>
            <a:r>
              <a:rPr lang="en-US"/>
              <a:t/>
            </a:r>
          </a:p>
          <a:p>
            <a:r>
              <a:rPr lang="en-US"/>
              <a:t>Next, we will discuss the models that we plan to create. Firstly, we will start with logistic regression, and this will be our baseline model. </a:t>
            </a:r>
          </a:p>
          <a:p>
            <a:r>
              <a:rPr lang="en-US"/>
              <a:t>Next, we will do random forest model that should help us capture nonlinear relationships within our data, and it should be robust to overfitting.</a:t>
            </a:r>
          </a:p>
          <a:p>
            <a:r>
              <a:rPr lang="en-US"/>
              <a:t>The third model will be Gradient Boosting, which, in general, is good for mixed variable types. It also tends to outperform other algorithms on complex data, be robust, and does feature selection. Lastly, we will implement a neural network model, more specifically an MLP model, to capture nonlinear relationships. Our dataset is structured and has predominantly binary features, hence, gradient boosting should perform better without requiring feature scaling and involve less complex tuning compared to neural networks. However, we still want to explore different types of models and evaluate how well MLP will perform relative to the more traditional methods above. </a:t>
            </a:r>
          </a:p>
          <a:p>
            <a:r>
              <a:rPr lang="en-US"/>
              <a:t>The next step would be evaluation, where we will look into different performance metrics such as accuracy, precision, recall, and ROC AUC(Receiver Operating Characteristic - Area Under Curve). As we are dealing with medical diagnosis, misclassification can have significant consequences. Our models should prioritize higher recall, as False Negatives could mean delaying treatment and worsening a patient’s condition. </a:t>
            </a:r>
          </a:p>
          <a:p>
            <a:r>
              <a:rPr lang="en-US"/>
              <a:t>The last step of our methodology is model explainability. Here, we will use SHAP(Shapley Additive Explanations), which should help us to identify the most influential features, meaning we will understand which health and lifestyle factors contribute most to the predicted risk of diabetes.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methodology starts with data preprocessing and visualization. First, we will check the distribution of the different classes(diabetes, no diabetes). </a:t>
            </a:r>
          </a:p>
          <a:p>
            <a:r>
              <a:rPr lang="en-US"/>
              <a:t>Then, we will look into how each feature is distributed based on the different classes. Lastly, we can check the correlation between the different features using a heatmap. </a:t>
            </a:r>
          </a:p>
          <a:p>
            <a:r>
              <a:rPr lang="en-US"/>
              <a:t/>
            </a:r>
          </a:p>
          <a:p>
            <a:r>
              <a:rPr lang="en-US"/>
              <a:t>The next step would be to deal with the class imbalance. There are three main ways to do this, which are resampling, class weight, and synthetic data generation.</a:t>
            </a:r>
          </a:p>
          <a:p>
            <a:r>
              <a:rPr lang="en-US"/>
              <a:t>We will decide which is best to use once we explore the dataset more. </a:t>
            </a:r>
          </a:p>
          <a:p>
            <a:r>
              <a:rPr lang="en-US"/>
              <a:t>After that, some features may need scaling, and we will need to remove extreme outliers. </a:t>
            </a:r>
          </a:p>
          <a:p>
            <a:r>
              <a:rPr lang="en-US"/>
              <a:t/>
            </a:r>
          </a:p>
          <a:p>
            <a:r>
              <a:rPr lang="en-US"/>
              <a:t>Lastly, we will split the dataset into training and testing data with stratification so that the class distribution is preserved in both the train and test sets.   </a:t>
            </a:r>
          </a:p>
          <a:p>
            <a:r>
              <a:rPr lang="en-US"/>
              <a:t/>
            </a:r>
          </a:p>
          <a:p>
            <a:r>
              <a:rPr lang="en-US"/>
              <a:t>Next, we will discuss the models that we plan to create. Firstly, we will start with logistic regression, and this will be our baseline model. </a:t>
            </a:r>
          </a:p>
          <a:p>
            <a:r>
              <a:rPr lang="en-US"/>
              <a:t>Next, we will do random forest model that should help us capture nonlinear relationships within our data, and it should be robust to overfitting.</a:t>
            </a:r>
          </a:p>
          <a:p>
            <a:r>
              <a:rPr lang="en-US"/>
              <a:t>The third model will be Gradient Boosting, which, in general, is good for mixed variable types. It also tends to outperform other algorithms on complex data, be robust, and does feature selection. Lastly, we will implement a neural network model, more specifically an MLP model, to capture nonlinear relationships. Our dataset is structured and has predominantly binary features, hence, gradient boosting should perform better without requiring feature scaling and involve less complex tuning compared to neural networks. However, we still want to explore different types of models and evaluate how well MLP will perform relative to the more traditional methods above. </a:t>
            </a:r>
          </a:p>
          <a:p>
            <a:r>
              <a:rPr lang="en-US"/>
              <a:t>The next step would be evaluation, where we will look into different performance metrics such as accuracy, precision, recall, and ROC AUC(Receiver Operating Characteristic - Area Under Curve). As we are dealing with medical diagnosis, misclassification can have significant consequences. Our models should prioritize higher recall, as False Negatives could mean delaying treatment and worsening a patient’s condition. </a:t>
            </a:r>
          </a:p>
          <a:p>
            <a:r>
              <a:rPr lang="en-US"/>
              <a:t>The last step of our methodology is model explainability. Here, we will use SHAP(Shapley Additive Explanations), which should help us to identify the most influential features, meaning we will understand which health and lifestyle factors contribute most to the predicted risk of diabetes.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methodology starts with data preprocessing and visualization. First, we will check the distribution of the different classes(diabetes, no diabetes). </a:t>
            </a:r>
          </a:p>
          <a:p>
            <a:r>
              <a:rPr lang="en-US"/>
              <a:t>Then, we will look into how each feature is distributed based on the different classes. Lastly, we can check the correlation between the different features using a heatmap. </a:t>
            </a:r>
          </a:p>
          <a:p>
            <a:r>
              <a:rPr lang="en-US"/>
              <a:t/>
            </a:r>
          </a:p>
          <a:p>
            <a:r>
              <a:rPr lang="en-US"/>
              <a:t>The next step would be to deal with the class imbalance. There are three main ways to do this, which are resampling, class weight, and synthetic data generation.</a:t>
            </a:r>
          </a:p>
          <a:p>
            <a:r>
              <a:rPr lang="en-US"/>
              <a:t>We will decide which is best to use once we explore the dataset more. </a:t>
            </a:r>
          </a:p>
          <a:p>
            <a:r>
              <a:rPr lang="en-US"/>
              <a:t>After that, some features may need scaling, and we will need to remove extreme outliers. </a:t>
            </a:r>
          </a:p>
          <a:p>
            <a:r>
              <a:rPr lang="en-US"/>
              <a:t/>
            </a:r>
          </a:p>
          <a:p>
            <a:r>
              <a:rPr lang="en-US"/>
              <a:t>Lastly, we will split the dataset into training and testing data with stratification so that the class distribution is preserved in both the train and test sets.   </a:t>
            </a:r>
          </a:p>
          <a:p>
            <a:r>
              <a:rPr lang="en-US"/>
              <a:t/>
            </a:r>
          </a:p>
          <a:p>
            <a:r>
              <a:rPr lang="en-US"/>
              <a:t>Next, we will discuss the models that we plan to create. Firstly, we will start with logistic regression, and this will be our baseline model. </a:t>
            </a:r>
          </a:p>
          <a:p>
            <a:r>
              <a:rPr lang="en-US"/>
              <a:t>Next, we will do random forest model that should help us capture nonlinear relationships within our data, and it should be robust to overfitting.</a:t>
            </a:r>
          </a:p>
          <a:p>
            <a:r>
              <a:rPr lang="en-US"/>
              <a:t>The third model will be Gradient Boosting, which, in general, is good for mixed variable types. It also tends to outperform other algorithms on complex data, be robust, and does feature selection. Lastly, we will implement a neural network model, more specifically an MLP model, to capture nonlinear relationships. Our dataset is structured and has predominantly binary features, hence, gradient boosting should perform better without requiring feature scaling and involve less complex tuning compared to neural networks. However, we still want to explore different types of models and evaluate how well MLP will perform relative to the more traditional methods above. </a:t>
            </a:r>
          </a:p>
          <a:p>
            <a:r>
              <a:rPr lang="en-US"/>
              <a:t>The next step would be evaluation, where we will look into different performance metrics such as accuracy, precision, recall, and ROC AUC(Receiver Operating Characteristic - Area Under Curve). As we are dealing with medical diagnosis, misclassification can have significant consequences. Our models should prioritize higher recall, as False Negatives could mean delaying treatment and worsening a patient’s condition. </a:t>
            </a:r>
          </a:p>
          <a:p>
            <a:r>
              <a:rPr lang="en-US"/>
              <a:t>The last step of our methodology is model explainability. Here, we will use SHAP(Shapley Additive Explanations), which should help us to identify the most influential features, meaning we will understand which health and lifestyle factors contribute most to the predicted risk of diabetes.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methodology starts with data preprocessing and visualization. First, we will check the distribution of the different classes(diabetes, no diabetes). </a:t>
            </a:r>
          </a:p>
          <a:p>
            <a:r>
              <a:rPr lang="en-US"/>
              <a:t>Then, we will look into how each feature is distributed based on the different classes. Lastly, we can check the correlation between the different features using a heatmap. </a:t>
            </a:r>
          </a:p>
          <a:p>
            <a:r>
              <a:rPr lang="en-US"/>
              <a:t/>
            </a:r>
          </a:p>
          <a:p>
            <a:r>
              <a:rPr lang="en-US"/>
              <a:t>The next step would be to deal with the class imbalance. There are three main ways to do this, which are resampling, class weight, and synthetic data generation.</a:t>
            </a:r>
          </a:p>
          <a:p>
            <a:r>
              <a:rPr lang="en-US"/>
              <a:t>We will decide which is best to use once we explore the dataset more. </a:t>
            </a:r>
          </a:p>
          <a:p>
            <a:r>
              <a:rPr lang="en-US"/>
              <a:t>After that, some features may need scaling, and we will need to remove extreme outliers. </a:t>
            </a:r>
          </a:p>
          <a:p>
            <a:r>
              <a:rPr lang="en-US"/>
              <a:t/>
            </a:r>
          </a:p>
          <a:p>
            <a:r>
              <a:rPr lang="en-US"/>
              <a:t>Lastly, we will split the dataset into training and testing data with stratification so that the class distribution is preserved in both the train and test sets.   </a:t>
            </a:r>
          </a:p>
          <a:p>
            <a:r>
              <a:rPr lang="en-US"/>
              <a:t/>
            </a:r>
          </a:p>
          <a:p>
            <a:r>
              <a:rPr lang="en-US"/>
              <a:t>Next, we will discuss the models that we plan to create. Firstly, we will start with logistic regression, and this will be our baseline model. </a:t>
            </a:r>
          </a:p>
          <a:p>
            <a:r>
              <a:rPr lang="en-US"/>
              <a:t>Next, we will do random forest model that should help us capture nonlinear relationships within our data, and it should be robust to overfitting.</a:t>
            </a:r>
          </a:p>
          <a:p>
            <a:r>
              <a:rPr lang="en-US"/>
              <a:t>The third model will be Gradient Boosting, which, in general, is good for mixed variable types. It also tends to outperform other algorithms on complex data, be robust, and does feature selection. Lastly, we will implement a neural network model, more specifically an MLP model, to capture nonlinear relationships. Our dataset is structured and has predominantly binary features, hence, gradient boosting should perform better without requiring feature scaling and involve less complex tuning compared to neural networks. However, we still want to explore different types of models and evaluate how well MLP will perform relative to the more traditional methods above. </a:t>
            </a:r>
          </a:p>
          <a:p>
            <a:r>
              <a:rPr lang="en-US"/>
              <a:t>The next step would be evaluation, where we will look into different performance metrics such as accuracy, precision, recall, and ROC AUC(Receiver Operating Characteristic - Area Under Curve). As we are dealing with medical diagnosis, misclassification can have significant consequences. Our models should prioritize higher recall, as False Negatives could mean delaying treatment and worsening a patient’s condition. </a:t>
            </a:r>
          </a:p>
          <a:p>
            <a:r>
              <a:rPr lang="en-US"/>
              <a:t>The last step of our methodology is model explainability. Here, we will use SHAP(Shapley Additive Explanations), which should help us to identify the most influential features, meaning we will understand which health and lifestyle factors contribute most to the predicted risk of diabetes.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 Id="rId6"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 Id="rId4" Target="../media/image2.pn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20.png" Type="http://schemas.openxmlformats.org/officeDocument/2006/relationships/image"/><Relationship Id="rId4"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TextBox 2" id="2"/>
          <p:cNvSpPr txBox="true"/>
          <p:nvPr/>
        </p:nvSpPr>
        <p:spPr>
          <a:xfrm rot="0">
            <a:off x="1845202" y="1471516"/>
            <a:ext cx="14597596" cy="6354426"/>
          </a:xfrm>
          <a:prstGeom prst="rect">
            <a:avLst/>
          </a:prstGeom>
        </p:spPr>
        <p:txBody>
          <a:bodyPr anchor="t" rtlCol="false" tIns="0" lIns="0" bIns="0" rIns="0">
            <a:spAutoFit/>
          </a:bodyPr>
          <a:lstStyle/>
          <a:p>
            <a:pPr algn="ctr" marL="0" indent="0" lvl="0">
              <a:lnSpc>
                <a:spcPts val="15951"/>
              </a:lnSpc>
            </a:pPr>
            <a:r>
              <a:rPr lang="en-US" b="true" sz="20988" spc="-2476">
                <a:solidFill>
                  <a:srgbClr val="CA0013"/>
                </a:solidFill>
                <a:latin typeface="Inter Bold"/>
                <a:ea typeface="Inter Bold"/>
                <a:cs typeface="Inter Bold"/>
                <a:sym typeface="Inter Bold"/>
              </a:rPr>
              <a:t>DIABETES RISK PROTECTION</a:t>
            </a:r>
          </a:p>
        </p:txBody>
      </p:sp>
      <p:sp>
        <p:nvSpPr>
          <p:cNvPr name="Freeform 3" id="3"/>
          <p:cNvSpPr/>
          <p:nvPr/>
        </p:nvSpPr>
        <p:spPr>
          <a:xfrm flipH="false" flipV="false" rot="-5400000">
            <a:off x="6105790" y="3837313"/>
            <a:ext cx="6076421" cy="6822953"/>
          </a:xfrm>
          <a:custGeom>
            <a:avLst/>
            <a:gdLst/>
            <a:ahLst/>
            <a:cxnLst/>
            <a:rect r="r" b="b" t="t" l="l"/>
            <a:pathLst>
              <a:path h="6822953" w="6076421">
                <a:moveTo>
                  <a:pt x="0" y="0"/>
                </a:moveTo>
                <a:lnTo>
                  <a:pt x="6076420" y="0"/>
                </a:lnTo>
                <a:lnTo>
                  <a:pt x="6076420" y="6822953"/>
                </a:lnTo>
                <a:lnTo>
                  <a:pt x="0" y="6822953"/>
                </a:lnTo>
                <a:lnTo>
                  <a:pt x="0" y="0"/>
                </a:lnTo>
                <a:close/>
              </a:path>
            </a:pathLst>
          </a:custGeom>
          <a:blipFill>
            <a:blip r:embed="rId3"/>
            <a:stretch>
              <a:fillRect l="0" t="0" r="0" b="0"/>
            </a:stretch>
          </a:blipFill>
        </p:spPr>
      </p:sp>
      <p:sp>
        <p:nvSpPr>
          <p:cNvPr name="Freeform 4" id="4"/>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4"/>
            <a:stretch>
              <a:fillRect l="0" t="0" r="0" b="0"/>
            </a:stretch>
          </a:blipFill>
        </p:spPr>
      </p:sp>
      <p:sp>
        <p:nvSpPr>
          <p:cNvPr name="TextBox 5" id="5"/>
          <p:cNvSpPr txBox="true"/>
          <p:nvPr/>
        </p:nvSpPr>
        <p:spPr>
          <a:xfrm rot="0">
            <a:off x="15186126" y="8467659"/>
            <a:ext cx="2513344" cy="1271397"/>
          </a:xfrm>
          <a:prstGeom prst="rect">
            <a:avLst/>
          </a:prstGeom>
        </p:spPr>
        <p:txBody>
          <a:bodyPr anchor="t" rtlCol="false" tIns="0" lIns="0" bIns="0" rIns="0">
            <a:spAutoFit/>
          </a:bodyPr>
          <a:lstStyle/>
          <a:p>
            <a:pPr algn="r">
              <a:lnSpc>
                <a:spcPts val="1674"/>
              </a:lnSpc>
            </a:pPr>
          </a:p>
          <a:p>
            <a:pPr algn="r">
              <a:lnSpc>
                <a:spcPts val="1674"/>
              </a:lnSpc>
            </a:pPr>
            <a:r>
              <a:rPr lang="en-US" b="true" sz="1800" spc="-54">
                <a:solidFill>
                  <a:srgbClr val="CA0013"/>
                </a:solidFill>
                <a:latin typeface="Inter Bold"/>
                <a:ea typeface="Inter Bold"/>
                <a:cs typeface="Inter Bold"/>
                <a:sym typeface="Inter Bold"/>
              </a:rPr>
              <a:t>GROUP 13</a:t>
            </a:r>
          </a:p>
          <a:p>
            <a:pPr algn="r">
              <a:lnSpc>
                <a:spcPts val="1674"/>
              </a:lnSpc>
            </a:pPr>
            <a:r>
              <a:rPr lang="en-US" b="true" sz="1800" spc="-54">
                <a:solidFill>
                  <a:srgbClr val="CA0013"/>
                </a:solidFill>
                <a:latin typeface="Inter Bold"/>
                <a:ea typeface="Inter Bold"/>
                <a:cs typeface="Inter Bold"/>
                <a:sym typeface="Inter Bold"/>
              </a:rPr>
              <a:t>JOSEP MONTORO</a:t>
            </a:r>
          </a:p>
          <a:p>
            <a:pPr algn="r">
              <a:lnSpc>
                <a:spcPts val="1674"/>
              </a:lnSpc>
            </a:pPr>
            <a:r>
              <a:rPr lang="en-US" b="true" sz="1800" spc="-54">
                <a:solidFill>
                  <a:srgbClr val="CA0013"/>
                </a:solidFill>
                <a:latin typeface="Inter Bold"/>
                <a:ea typeface="Inter Bold"/>
                <a:cs typeface="Inter Bold"/>
                <a:sym typeface="Inter Bold"/>
              </a:rPr>
              <a:t>SILVIA ANDREEVA</a:t>
            </a:r>
          </a:p>
          <a:p>
            <a:pPr algn="r">
              <a:lnSpc>
                <a:spcPts val="1674"/>
              </a:lnSpc>
            </a:pPr>
            <a:r>
              <a:rPr lang="en-US" b="true" sz="1800" spc="-54">
                <a:solidFill>
                  <a:srgbClr val="CA0013"/>
                </a:solidFill>
                <a:latin typeface="Inter Bold"/>
                <a:ea typeface="Inter Bold"/>
                <a:cs typeface="Inter Bold"/>
                <a:sym typeface="Inter Bold"/>
              </a:rPr>
              <a:t>ARTEMIS MAIGNE</a:t>
            </a:r>
          </a:p>
          <a:p>
            <a:pPr algn="r" marL="0" indent="0" lvl="0">
              <a:lnSpc>
                <a:spcPts val="1674"/>
              </a:lnSpc>
            </a:pPr>
            <a:r>
              <a:rPr lang="en-US" b="true" sz="1800" spc="-54">
                <a:solidFill>
                  <a:srgbClr val="CA0013"/>
                </a:solidFill>
                <a:latin typeface="Inter Bold"/>
                <a:ea typeface="Inter Bold"/>
                <a:cs typeface="Inter Bold"/>
                <a:sym typeface="Inter Bold"/>
              </a:rPr>
              <a:t>ARTHUR BELLOC</a:t>
            </a:r>
          </a:p>
        </p:txBody>
      </p:sp>
      <p:sp>
        <p:nvSpPr>
          <p:cNvPr name="TextBox 6" id="6"/>
          <p:cNvSpPr txBox="true"/>
          <p:nvPr/>
        </p:nvSpPr>
        <p:spPr>
          <a:xfrm rot="0">
            <a:off x="588530" y="9305859"/>
            <a:ext cx="2513344" cy="433197"/>
          </a:xfrm>
          <a:prstGeom prst="rect">
            <a:avLst/>
          </a:prstGeom>
        </p:spPr>
        <p:txBody>
          <a:bodyPr anchor="t" rtlCol="false" tIns="0" lIns="0" bIns="0" rIns="0">
            <a:spAutoFit/>
          </a:bodyPr>
          <a:lstStyle/>
          <a:p>
            <a:pPr algn="l">
              <a:lnSpc>
                <a:spcPts val="1674"/>
              </a:lnSpc>
            </a:pPr>
            <a:r>
              <a:rPr lang="en-US" b="true" sz="1800" spc="-54">
                <a:solidFill>
                  <a:srgbClr val="CA0013"/>
                </a:solidFill>
                <a:latin typeface="Inter Bold"/>
                <a:ea typeface="Inter Bold"/>
                <a:cs typeface="Inter Bold"/>
                <a:sym typeface="Inter Bold"/>
              </a:rPr>
              <a:t>MACHINE LEARNING 1</a:t>
            </a:r>
          </a:p>
          <a:p>
            <a:pPr algn="l" marL="0" indent="0" lvl="0">
              <a:lnSpc>
                <a:spcPts val="1674"/>
              </a:lnSpc>
            </a:pPr>
            <a:r>
              <a:rPr lang="en-US" b="true" sz="1800" spc="-54">
                <a:solidFill>
                  <a:srgbClr val="CA0013"/>
                </a:solidFill>
                <a:latin typeface="Inter Bold"/>
                <a:ea typeface="Inter Bold"/>
                <a:cs typeface="Inter Bold"/>
                <a:sym typeface="Inter Bold"/>
              </a:rPr>
              <a:t>GROUP PROJECT</a:t>
            </a:r>
          </a:p>
        </p:txBody>
      </p:sp>
      <p:sp>
        <p:nvSpPr>
          <p:cNvPr name="TextBox 7" id="7"/>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1891399" y="0"/>
            <a:ext cx="6396601" cy="4269731"/>
          </a:xfrm>
          <a:custGeom>
            <a:avLst/>
            <a:gdLst/>
            <a:ahLst/>
            <a:cxnLst/>
            <a:rect r="r" b="b" t="t" l="l"/>
            <a:pathLst>
              <a:path h="4269731" w="6396601">
                <a:moveTo>
                  <a:pt x="0" y="0"/>
                </a:moveTo>
                <a:lnTo>
                  <a:pt x="6396601" y="0"/>
                </a:lnTo>
                <a:lnTo>
                  <a:pt x="6396601" y="4269731"/>
                </a:lnTo>
                <a:lnTo>
                  <a:pt x="0" y="4269731"/>
                </a:lnTo>
                <a:lnTo>
                  <a:pt x="0" y="0"/>
                </a:lnTo>
                <a:close/>
              </a:path>
            </a:pathLst>
          </a:custGeom>
          <a:blipFill>
            <a:blip r:embed="rId3"/>
            <a:stretch>
              <a:fillRect l="0" t="0" r="0" b="0"/>
            </a:stretch>
          </a:blipFill>
        </p:spPr>
      </p:sp>
      <p:sp>
        <p:nvSpPr>
          <p:cNvPr name="TextBox 3" id="3"/>
          <p:cNvSpPr txBox="true"/>
          <p:nvPr/>
        </p:nvSpPr>
        <p:spPr>
          <a:xfrm rot="0">
            <a:off x="422706" y="633039"/>
            <a:ext cx="7468860" cy="3406012"/>
          </a:xfrm>
          <a:prstGeom prst="rect">
            <a:avLst/>
          </a:prstGeom>
        </p:spPr>
        <p:txBody>
          <a:bodyPr anchor="t" rtlCol="false" tIns="0" lIns="0" bIns="0" rIns="0">
            <a:spAutoFit/>
          </a:bodyPr>
          <a:lstStyle/>
          <a:p>
            <a:pPr algn="l">
              <a:lnSpc>
                <a:spcPts val="8610"/>
              </a:lnSpc>
            </a:pPr>
            <a:r>
              <a:rPr lang="en-US" b="true" sz="10899" spc="-1286">
                <a:solidFill>
                  <a:srgbClr val="CA0013"/>
                </a:solidFill>
                <a:latin typeface="Inter Bold"/>
                <a:ea typeface="Inter Bold"/>
                <a:cs typeface="Inter Bold"/>
                <a:sym typeface="Inter Bold"/>
              </a:rPr>
              <a:t>DIABETES :</a:t>
            </a:r>
          </a:p>
          <a:p>
            <a:pPr algn="l" marL="0" indent="0" lvl="0">
              <a:lnSpc>
                <a:spcPts val="8610"/>
              </a:lnSpc>
            </a:pPr>
            <a:r>
              <a:rPr lang="en-US" b="true" sz="10899" spc="-1286">
                <a:solidFill>
                  <a:srgbClr val="CA0013"/>
                </a:solidFill>
                <a:latin typeface="Inter Bold"/>
                <a:ea typeface="Inter Bold"/>
                <a:cs typeface="Inter Bold"/>
                <a:sym typeface="Inter Bold"/>
              </a:rPr>
              <a:t>A GLOBAL CHALLENGE</a:t>
            </a:r>
          </a:p>
        </p:txBody>
      </p:sp>
      <p:sp>
        <p:nvSpPr>
          <p:cNvPr name="TextBox 4" id="4"/>
          <p:cNvSpPr txBox="true"/>
          <p:nvPr/>
        </p:nvSpPr>
        <p:spPr>
          <a:xfrm rot="0">
            <a:off x="19050" y="4642802"/>
            <a:ext cx="3382842" cy="1009651"/>
          </a:xfrm>
          <a:prstGeom prst="rect">
            <a:avLst/>
          </a:prstGeom>
        </p:spPr>
        <p:txBody>
          <a:bodyPr anchor="t" rtlCol="false" tIns="0" lIns="0" bIns="0" rIns="0">
            <a:spAutoFit/>
          </a:bodyPr>
          <a:lstStyle/>
          <a:p>
            <a:pPr algn="ctr">
              <a:lnSpc>
                <a:spcPts val="8399"/>
              </a:lnSpc>
            </a:pPr>
            <a:r>
              <a:rPr lang="en-US" sz="5999" b="true">
                <a:solidFill>
                  <a:srgbClr val="CA0013"/>
                </a:solidFill>
                <a:latin typeface="Open Sans Bold"/>
                <a:ea typeface="Open Sans Bold"/>
                <a:cs typeface="Open Sans Bold"/>
                <a:sym typeface="Open Sans Bold"/>
              </a:rPr>
              <a:t>537M</a:t>
            </a:r>
          </a:p>
        </p:txBody>
      </p:sp>
      <p:sp>
        <p:nvSpPr>
          <p:cNvPr name="TextBox 5" id="5"/>
          <p:cNvSpPr txBox="true"/>
          <p:nvPr/>
        </p:nvSpPr>
        <p:spPr>
          <a:xfrm rot="0">
            <a:off x="4059016" y="4642802"/>
            <a:ext cx="3382842" cy="1009651"/>
          </a:xfrm>
          <a:prstGeom prst="rect">
            <a:avLst/>
          </a:prstGeom>
        </p:spPr>
        <p:txBody>
          <a:bodyPr anchor="t" rtlCol="false" tIns="0" lIns="0" bIns="0" rIns="0">
            <a:spAutoFit/>
          </a:bodyPr>
          <a:lstStyle/>
          <a:p>
            <a:pPr algn="ctr">
              <a:lnSpc>
                <a:spcPts val="8399"/>
              </a:lnSpc>
            </a:pPr>
            <a:r>
              <a:rPr lang="en-US" sz="5999" b="true">
                <a:solidFill>
                  <a:srgbClr val="CA0013"/>
                </a:solidFill>
                <a:latin typeface="Open Sans Bold"/>
                <a:ea typeface="Open Sans Bold"/>
                <a:cs typeface="Open Sans Bold"/>
                <a:sym typeface="Open Sans Bold"/>
              </a:rPr>
              <a:t>2</a:t>
            </a:r>
          </a:p>
        </p:txBody>
      </p:sp>
      <p:sp>
        <p:nvSpPr>
          <p:cNvPr name="TextBox 6" id="6"/>
          <p:cNvSpPr txBox="true"/>
          <p:nvPr/>
        </p:nvSpPr>
        <p:spPr>
          <a:xfrm rot="0">
            <a:off x="8098982" y="4642802"/>
            <a:ext cx="3316474" cy="1009651"/>
          </a:xfrm>
          <a:prstGeom prst="rect">
            <a:avLst/>
          </a:prstGeom>
        </p:spPr>
        <p:txBody>
          <a:bodyPr anchor="t" rtlCol="false" tIns="0" lIns="0" bIns="0" rIns="0">
            <a:spAutoFit/>
          </a:bodyPr>
          <a:lstStyle/>
          <a:p>
            <a:pPr algn="ctr">
              <a:lnSpc>
                <a:spcPts val="8399"/>
              </a:lnSpc>
            </a:pPr>
            <a:r>
              <a:rPr lang="en-US" sz="5999" b="true">
                <a:solidFill>
                  <a:srgbClr val="CA0013"/>
                </a:solidFill>
                <a:latin typeface="Open Sans Bold"/>
                <a:ea typeface="Open Sans Bold"/>
                <a:cs typeface="Open Sans Bold"/>
                <a:sym typeface="Open Sans Bold"/>
              </a:rPr>
              <a:t>3</a:t>
            </a:r>
          </a:p>
        </p:txBody>
      </p:sp>
      <p:sp>
        <p:nvSpPr>
          <p:cNvPr name="TextBox 7" id="7"/>
          <p:cNvSpPr txBox="true"/>
          <p:nvPr/>
        </p:nvSpPr>
        <p:spPr>
          <a:xfrm rot="0">
            <a:off x="142774" y="5585778"/>
            <a:ext cx="3382842" cy="1944369"/>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Diagnosed people worldwide</a:t>
            </a:r>
          </a:p>
        </p:txBody>
      </p:sp>
      <p:sp>
        <p:nvSpPr>
          <p:cNvPr name="TextBox 8" id="8"/>
          <p:cNvSpPr txBox="true"/>
          <p:nvPr/>
        </p:nvSpPr>
        <p:spPr>
          <a:xfrm rot="0">
            <a:off x="4059016" y="5585778"/>
            <a:ext cx="3382842" cy="1287144"/>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Main </a:t>
            </a:r>
          </a:p>
          <a:p>
            <a:pPr algn="ctr">
              <a:lnSpc>
                <a:spcPts val="5180"/>
              </a:lnSpc>
            </a:pPr>
            <a:r>
              <a:rPr lang="en-US" sz="3700" b="true">
                <a:solidFill>
                  <a:srgbClr val="CA0013"/>
                </a:solidFill>
                <a:latin typeface="Open Sans Bold"/>
                <a:ea typeface="Open Sans Bold"/>
                <a:cs typeface="Open Sans Bold"/>
                <a:sym typeface="Open Sans Bold"/>
              </a:rPr>
              <a:t>Reasons</a:t>
            </a:r>
          </a:p>
        </p:txBody>
      </p:sp>
      <p:sp>
        <p:nvSpPr>
          <p:cNvPr name="TextBox 9" id="9"/>
          <p:cNvSpPr txBox="true"/>
          <p:nvPr/>
        </p:nvSpPr>
        <p:spPr>
          <a:xfrm rot="0">
            <a:off x="8098982" y="5566728"/>
            <a:ext cx="3401892" cy="1313067"/>
          </a:xfrm>
          <a:prstGeom prst="rect">
            <a:avLst/>
          </a:prstGeom>
        </p:spPr>
        <p:txBody>
          <a:bodyPr anchor="t" rtlCol="false" tIns="0" lIns="0" bIns="0" rIns="0">
            <a:spAutoFit/>
          </a:bodyPr>
          <a:lstStyle/>
          <a:p>
            <a:pPr algn="ctr">
              <a:lnSpc>
                <a:spcPts val="5209"/>
              </a:lnSpc>
            </a:pPr>
            <a:r>
              <a:rPr lang="en-US" sz="3720" b="true">
                <a:solidFill>
                  <a:srgbClr val="CA0013"/>
                </a:solidFill>
                <a:latin typeface="Open Sans Bold"/>
                <a:ea typeface="Open Sans Bold"/>
                <a:cs typeface="Open Sans Bold"/>
                <a:sym typeface="Open Sans Bold"/>
              </a:rPr>
              <a:t>Major Consequences</a:t>
            </a:r>
          </a:p>
        </p:txBody>
      </p:sp>
      <p:sp>
        <p:nvSpPr>
          <p:cNvPr name="AutoShape 10" id="10"/>
          <p:cNvSpPr/>
          <p:nvPr/>
        </p:nvSpPr>
        <p:spPr>
          <a:xfrm>
            <a:off x="7711731" y="4747577"/>
            <a:ext cx="0" cy="5738573"/>
          </a:xfrm>
          <a:prstGeom prst="line">
            <a:avLst/>
          </a:prstGeom>
          <a:ln cap="flat" w="38100">
            <a:solidFill>
              <a:srgbClr val="CA0013"/>
            </a:solidFill>
            <a:prstDash val="solid"/>
            <a:headEnd type="none" len="sm" w="sm"/>
            <a:tailEnd type="none" len="sm" w="sm"/>
          </a:ln>
        </p:spPr>
      </p:sp>
      <p:sp>
        <p:nvSpPr>
          <p:cNvPr name="AutoShape 11" id="11"/>
          <p:cNvSpPr/>
          <p:nvPr/>
        </p:nvSpPr>
        <p:spPr>
          <a:xfrm>
            <a:off x="3792316" y="4747577"/>
            <a:ext cx="0" cy="5738573"/>
          </a:xfrm>
          <a:prstGeom prst="line">
            <a:avLst/>
          </a:prstGeom>
          <a:ln cap="flat" w="38100">
            <a:solidFill>
              <a:srgbClr val="CA0013"/>
            </a:solidFill>
            <a:prstDash val="solid"/>
            <a:headEnd type="none" len="sm" w="sm"/>
            <a:tailEnd type="none" len="sm" w="sm"/>
          </a:ln>
        </p:spPr>
      </p:sp>
      <p:sp>
        <p:nvSpPr>
          <p:cNvPr name="TextBox 12" id="12"/>
          <p:cNvSpPr txBox="true"/>
          <p:nvPr/>
        </p:nvSpPr>
        <p:spPr>
          <a:xfrm rot="0">
            <a:off x="4157136" y="7246059"/>
            <a:ext cx="3284722" cy="2585085"/>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1 - The pancreas does not produce enough (or any) insulin.</a:t>
            </a:r>
          </a:p>
          <a:p>
            <a:pPr algn="ctr">
              <a:lnSpc>
                <a:spcPts val="2940"/>
              </a:lnSpc>
            </a:pPr>
          </a:p>
          <a:p>
            <a:pPr algn="ctr">
              <a:lnSpc>
                <a:spcPts val="2940"/>
              </a:lnSpc>
            </a:pPr>
            <a:r>
              <a:rPr lang="en-US" sz="2100">
                <a:solidFill>
                  <a:srgbClr val="CA0013"/>
                </a:solidFill>
                <a:latin typeface="Open Sans"/>
                <a:ea typeface="Open Sans"/>
                <a:cs typeface="Open Sans"/>
                <a:sym typeface="Open Sans"/>
              </a:rPr>
              <a:t>2 - The body is not properly responding to insulin’s effects.</a:t>
            </a:r>
          </a:p>
        </p:txBody>
      </p:sp>
      <p:sp>
        <p:nvSpPr>
          <p:cNvPr name="TextBox 13" id="13"/>
          <p:cNvSpPr txBox="true"/>
          <p:nvPr/>
        </p:nvSpPr>
        <p:spPr>
          <a:xfrm rot="0">
            <a:off x="8098982" y="7246059"/>
            <a:ext cx="3401892" cy="1842135"/>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1 - Cardiovascular issues</a:t>
            </a:r>
          </a:p>
          <a:p>
            <a:pPr algn="ctr">
              <a:lnSpc>
                <a:spcPts val="2940"/>
              </a:lnSpc>
            </a:pPr>
          </a:p>
          <a:p>
            <a:pPr algn="ctr">
              <a:lnSpc>
                <a:spcPts val="2940"/>
              </a:lnSpc>
            </a:pPr>
            <a:r>
              <a:rPr lang="en-US" sz="2100">
                <a:solidFill>
                  <a:srgbClr val="CA0013"/>
                </a:solidFill>
                <a:latin typeface="Open Sans"/>
                <a:ea typeface="Open Sans"/>
                <a:cs typeface="Open Sans"/>
                <a:sym typeface="Open Sans"/>
              </a:rPr>
              <a:t>2 - Nerve damages</a:t>
            </a:r>
          </a:p>
          <a:p>
            <a:pPr algn="ctr">
              <a:lnSpc>
                <a:spcPts val="2940"/>
              </a:lnSpc>
            </a:pPr>
          </a:p>
          <a:p>
            <a:pPr algn="ctr">
              <a:lnSpc>
                <a:spcPts val="2940"/>
              </a:lnSpc>
            </a:pPr>
            <a:r>
              <a:rPr lang="en-US" sz="2100">
                <a:solidFill>
                  <a:srgbClr val="CA0013"/>
                </a:solidFill>
                <a:latin typeface="Open Sans"/>
                <a:ea typeface="Open Sans"/>
                <a:cs typeface="Open Sans"/>
                <a:sym typeface="Open Sans"/>
              </a:rPr>
              <a:t>3 - Retinopathy</a:t>
            </a:r>
          </a:p>
        </p:txBody>
      </p:sp>
      <p:sp>
        <p:nvSpPr>
          <p:cNvPr name="TextBox 14" id="14"/>
          <p:cNvSpPr txBox="true"/>
          <p:nvPr/>
        </p:nvSpPr>
        <p:spPr>
          <a:xfrm rot="0">
            <a:off x="12393873" y="5614353"/>
            <a:ext cx="5391652" cy="2956560"/>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Glucose is the most important source of energy to the body. </a:t>
            </a:r>
          </a:p>
          <a:p>
            <a:pPr algn="ctr">
              <a:lnSpc>
                <a:spcPts val="2940"/>
              </a:lnSpc>
            </a:pPr>
          </a:p>
          <a:p>
            <a:pPr algn="ctr">
              <a:lnSpc>
                <a:spcPts val="2940"/>
              </a:lnSpc>
            </a:pPr>
            <a:r>
              <a:rPr lang="en-US" sz="2100">
                <a:solidFill>
                  <a:srgbClr val="CA0013"/>
                </a:solidFill>
                <a:latin typeface="Open Sans"/>
                <a:ea typeface="Open Sans"/>
                <a:cs typeface="Open Sans"/>
                <a:sym typeface="Open Sans"/>
              </a:rPr>
              <a:t>It requires insulin to reach its target cells. </a:t>
            </a:r>
          </a:p>
          <a:p>
            <a:pPr algn="ctr">
              <a:lnSpc>
                <a:spcPts val="2940"/>
              </a:lnSpc>
            </a:pPr>
          </a:p>
          <a:p>
            <a:pPr algn="ctr">
              <a:lnSpc>
                <a:spcPts val="2940"/>
              </a:lnSpc>
            </a:pPr>
            <a:r>
              <a:rPr lang="en-US" sz="2100">
                <a:solidFill>
                  <a:srgbClr val="CA0013"/>
                </a:solidFill>
                <a:latin typeface="Open Sans"/>
                <a:ea typeface="Open Sans"/>
                <a:cs typeface="Open Sans"/>
                <a:sym typeface="Open Sans"/>
              </a:rPr>
              <a:t>Without enought insulin, glucose accumulates in the blood, causing prolonged hyperglycemia.</a:t>
            </a:r>
          </a:p>
        </p:txBody>
      </p:sp>
      <p:sp>
        <p:nvSpPr>
          <p:cNvPr name="AutoShape 15" id="15"/>
          <p:cNvSpPr/>
          <p:nvPr/>
        </p:nvSpPr>
        <p:spPr>
          <a:xfrm>
            <a:off x="11891399" y="4530407"/>
            <a:ext cx="0" cy="5738573"/>
          </a:xfrm>
          <a:prstGeom prst="line">
            <a:avLst/>
          </a:prstGeom>
          <a:ln cap="flat" w="38100">
            <a:solidFill>
              <a:srgbClr val="CA0013"/>
            </a:solidFill>
            <a:prstDash val="solid"/>
            <a:headEnd type="none" len="sm" w="sm"/>
            <a:tailEnd type="none" len="sm" w="sm"/>
          </a:ln>
        </p:spPr>
      </p:sp>
      <p:sp>
        <p:nvSpPr>
          <p:cNvPr name="Freeform 16" id="16"/>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4"/>
            <a:stretch>
              <a:fillRect l="0" t="0" r="0" b="0"/>
            </a:stretch>
          </a:blipFill>
        </p:spPr>
      </p:sp>
      <p:sp>
        <p:nvSpPr>
          <p:cNvPr name="TextBox 17" id="17"/>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1028700" y="6402313"/>
            <a:ext cx="7998046" cy="2855987"/>
            <a:chOff x="0" y="0"/>
            <a:chExt cx="2106481" cy="752194"/>
          </a:xfrm>
        </p:grpSpPr>
        <p:sp>
          <p:nvSpPr>
            <p:cNvPr name="Freeform 3" id="3"/>
            <p:cNvSpPr/>
            <p:nvPr/>
          </p:nvSpPr>
          <p:spPr>
            <a:xfrm flipH="false" flipV="false" rot="0">
              <a:off x="0" y="0"/>
              <a:ext cx="2106481" cy="752194"/>
            </a:xfrm>
            <a:custGeom>
              <a:avLst/>
              <a:gdLst/>
              <a:ahLst/>
              <a:cxnLst/>
              <a:rect r="r" b="b" t="t" l="l"/>
              <a:pathLst>
                <a:path h="752194" w="2106481">
                  <a:moveTo>
                    <a:pt x="0" y="0"/>
                  </a:moveTo>
                  <a:lnTo>
                    <a:pt x="2106481" y="0"/>
                  </a:lnTo>
                  <a:lnTo>
                    <a:pt x="2106481" y="752194"/>
                  </a:lnTo>
                  <a:lnTo>
                    <a:pt x="0" y="752194"/>
                  </a:lnTo>
                  <a:close/>
                </a:path>
              </a:pathLst>
            </a:custGeom>
            <a:solidFill>
              <a:srgbClr val="F9F7F2"/>
            </a:solidFill>
          </p:spPr>
        </p:sp>
        <p:sp>
          <p:nvSpPr>
            <p:cNvPr name="TextBox 4" id="4"/>
            <p:cNvSpPr txBox="true"/>
            <p:nvPr/>
          </p:nvSpPr>
          <p:spPr>
            <a:xfrm>
              <a:off x="0" y="47625"/>
              <a:ext cx="2106481" cy="704569"/>
            </a:xfrm>
            <a:prstGeom prst="rect">
              <a:avLst/>
            </a:prstGeom>
          </p:spPr>
          <p:txBody>
            <a:bodyPr anchor="ctr" rtlCol="false" tIns="50800" lIns="50800" bIns="50800" rIns="50800"/>
            <a:lstStyle/>
            <a:p>
              <a:pPr algn="ctr">
                <a:lnSpc>
                  <a:spcPts val="1674"/>
                </a:lnSpc>
              </a:pPr>
            </a:p>
          </p:txBody>
        </p:sp>
      </p:grpSp>
      <p:grpSp>
        <p:nvGrpSpPr>
          <p:cNvPr name="Group 5" id="5"/>
          <p:cNvGrpSpPr/>
          <p:nvPr/>
        </p:nvGrpSpPr>
        <p:grpSpPr>
          <a:xfrm rot="0">
            <a:off x="9261254" y="6402313"/>
            <a:ext cx="7998046" cy="2855987"/>
            <a:chOff x="0" y="0"/>
            <a:chExt cx="2106481" cy="752194"/>
          </a:xfrm>
        </p:grpSpPr>
        <p:sp>
          <p:nvSpPr>
            <p:cNvPr name="Freeform 6" id="6"/>
            <p:cNvSpPr/>
            <p:nvPr/>
          </p:nvSpPr>
          <p:spPr>
            <a:xfrm flipH="false" flipV="false" rot="0">
              <a:off x="0" y="0"/>
              <a:ext cx="2106481" cy="752194"/>
            </a:xfrm>
            <a:custGeom>
              <a:avLst/>
              <a:gdLst/>
              <a:ahLst/>
              <a:cxnLst/>
              <a:rect r="r" b="b" t="t" l="l"/>
              <a:pathLst>
                <a:path h="752194" w="2106481">
                  <a:moveTo>
                    <a:pt x="0" y="0"/>
                  </a:moveTo>
                  <a:lnTo>
                    <a:pt x="2106481" y="0"/>
                  </a:lnTo>
                  <a:lnTo>
                    <a:pt x="2106481" y="752194"/>
                  </a:lnTo>
                  <a:lnTo>
                    <a:pt x="0" y="752194"/>
                  </a:lnTo>
                  <a:close/>
                </a:path>
              </a:pathLst>
            </a:custGeom>
            <a:solidFill>
              <a:srgbClr val="F9F7F2"/>
            </a:solidFill>
          </p:spPr>
        </p:sp>
        <p:sp>
          <p:nvSpPr>
            <p:cNvPr name="TextBox 7" id="7"/>
            <p:cNvSpPr txBox="true"/>
            <p:nvPr/>
          </p:nvSpPr>
          <p:spPr>
            <a:xfrm>
              <a:off x="0" y="47625"/>
              <a:ext cx="2106481" cy="704569"/>
            </a:xfrm>
            <a:prstGeom prst="rect">
              <a:avLst/>
            </a:prstGeom>
          </p:spPr>
          <p:txBody>
            <a:bodyPr anchor="ctr" rtlCol="false" tIns="50800" lIns="50800" bIns="50800" rIns="50800"/>
            <a:lstStyle/>
            <a:p>
              <a:pPr algn="ctr">
                <a:lnSpc>
                  <a:spcPts val="1674"/>
                </a:lnSpc>
              </a:pPr>
            </a:p>
          </p:txBody>
        </p:sp>
      </p:grpSp>
      <p:grpSp>
        <p:nvGrpSpPr>
          <p:cNvPr name="Group 8" id="8"/>
          <p:cNvGrpSpPr/>
          <p:nvPr/>
        </p:nvGrpSpPr>
        <p:grpSpPr>
          <a:xfrm rot="0">
            <a:off x="9261254" y="3285113"/>
            <a:ext cx="7998046" cy="2855987"/>
            <a:chOff x="0" y="0"/>
            <a:chExt cx="2106481" cy="752194"/>
          </a:xfrm>
        </p:grpSpPr>
        <p:sp>
          <p:nvSpPr>
            <p:cNvPr name="Freeform 9" id="9"/>
            <p:cNvSpPr/>
            <p:nvPr/>
          </p:nvSpPr>
          <p:spPr>
            <a:xfrm flipH="false" flipV="false" rot="0">
              <a:off x="0" y="0"/>
              <a:ext cx="2106481" cy="752194"/>
            </a:xfrm>
            <a:custGeom>
              <a:avLst/>
              <a:gdLst/>
              <a:ahLst/>
              <a:cxnLst/>
              <a:rect r="r" b="b" t="t" l="l"/>
              <a:pathLst>
                <a:path h="752194" w="2106481">
                  <a:moveTo>
                    <a:pt x="0" y="0"/>
                  </a:moveTo>
                  <a:lnTo>
                    <a:pt x="2106481" y="0"/>
                  </a:lnTo>
                  <a:lnTo>
                    <a:pt x="2106481" y="752194"/>
                  </a:lnTo>
                  <a:lnTo>
                    <a:pt x="0" y="752194"/>
                  </a:lnTo>
                  <a:close/>
                </a:path>
              </a:pathLst>
            </a:custGeom>
            <a:solidFill>
              <a:srgbClr val="F9F7F2"/>
            </a:solidFill>
          </p:spPr>
        </p:sp>
        <p:sp>
          <p:nvSpPr>
            <p:cNvPr name="TextBox 10" id="10"/>
            <p:cNvSpPr txBox="true"/>
            <p:nvPr/>
          </p:nvSpPr>
          <p:spPr>
            <a:xfrm>
              <a:off x="0" y="47625"/>
              <a:ext cx="2106481" cy="704569"/>
            </a:xfrm>
            <a:prstGeom prst="rect">
              <a:avLst/>
            </a:prstGeom>
          </p:spPr>
          <p:txBody>
            <a:bodyPr anchor="ctr" rtlCol="false" tIns="50800" lIns="50800" bIns="50800" rIns="50800"/>
            <a:lstStyle/>
            <a:p>
              <a:pPr algn="ctr">
                <a:lnSpc>
                  <a:spcPts val="1674"/>
                </a:lnSpc>
              </a:pPr>
            </a:p>
          </p:txBody>
        </p:sp>
      </p:grpSp>
      <p:grpSp>
        <p:nvGrpSpPr>
          <p:cNvPr name="Group 11" id="11"/>
          <p:cNvGrpSpPr/>
          <p:nvPr/>
        </p:nvGrpSpPr>
        <p:grpSpPr>
          <a:xfrm rot="0">
            <a:off x="1028700" y="3285113"/>
            <a:ext cx="7998046" cy="2855987"/>
            <a:chOff x="0" y="0"/>
            <a:chExt cx="2106481" cy="752194"/>
          </a:xfrm>
        </p:grpSpPr>
        <p:sp>
          <p:nvSpPr>
            <p:cNvPr name="Freeform 12" id="12"/>
            <p:cNvSpPr/>
            <p:nvPr/>
          </p:nvSpPr>
          <p:spPr>
            <a:xfrm flipH="false" flipV="false" rot="0">
              <a:off x="0" y="0"/>
              <a:ext cx="2106481" cy="752194"/>
            </a:xfrm>
            <a:custGeom>
              <a:avLst/>
              <a:gdLst/>
              <a:ahLst/>
              <a:cxnLst/>
              <a:rect r="r" b="b" t="t" l="l"/>
              <a:pathLst>
                <a:path h="752194" w="2106481">
                  <a:moveTo>
                    <a:pt x="0" y="0"/>
                  </a:moveTo>
                  <a:lnTo>
                    <a:pt x="2106481" y="0"/>
                  </a:lnTo>
                  <a:lnTo>
                    <a:pt x="2106481" y="752194"/>
                  </a:lnTo>
                  <a:lnTo>
                    <a:pt x="0" y="752194"/>
                  </a:lnTo>
                  <a:close/>
                </a:path>
              </a:pathLst>
            </a:custGeom>
            <a:solidFill>
              <a:srgbClr val="F9F7F2"/>
            </a:solidFill>
          </p:spPr>
        </p:sp>
        <p:sp>
          <p:nvSpPr>
            <p:cNvPr name="TextBox 13" id="13"/>
            <p:cNvSpPr txBox="true"/>
            <p:nvPr/>
          </p:nvSpPr>
          <p:spPr>
            <a:xfrm>
              <a:off x="0" y="47625"/>
              <a:ext cx="2106481" cy="704569"/>
            </a:xfrm>
            <a:prstGeom prst="rect">
              <a:avLst/>
            </a:prstGeom>
          </p:spPr>
          <p:txBody>
            <a:bodyPr anchor="ctr" rtlCol="false" tIns="50800" lIns="50800" bIns="50800" rIns="50800"/>
            <a:lstStyle/>
            <a:p>
              <a:pPr algn="ctr">
                <a:lnSpc>
                  <a:spcPts val="1674"/>
                </a:lnSpc>
              </a:pPr>
            </a:p>
          </p:txBody>
        </p:sp>
      </p:grpSp>
      <p:sp>
        <p:nvSpPr>
          <p:cNvPr name="Freeform 14" id="14"/>
          <p:cNvSpPr/>
          <p:nvPr/>
        </p:nvSpPr>
        <p:spPr>
          <a:xfrm flipH="false" flipV="false" rot="0">
            <a:off x="1146814" y="3431019"/>
            <a:ext cx="1247559" cy="971758"/>
          </a:xfrm>
          <a:custGeom>
            <a:avLst/>
            <a:gdLst/>
            <a:ahLst/>
            <a:cxnLst/>
            <a:rect r="r" b="b" t="t" l="l"/>
            <a:pathLst>
              <a:path h="971758" w="1247559">
                <a:moveTo>
                  <a:pt x="0" y="0"/>
                </a:moveTo>
                <a:lnTo>
                  <a:pt x="1247560" y="0"/>
                </a:lnTo>
                <a:lnTo>
                  <a:pt x="1247560" y="971757"/>
                </a:lnTo>
                <a:lnTo>
                  <a:pt x="0" y="971757"/>
                </a:lnTo>
                <a:lnTo>
                  <a:pt x="0" y="0"/>
                </a:lnTo>
                <a:close/>
              </a:path>
            </a:pathLst>
          </a:custGeom>
          <a:blipFill>
            <a:blip r:embed="rId3"/>
            <a:stretch>
              <a:fillRect l="-13" t="-13595" r="0" b="-24680"/>
            </a:stretch>
          </a:blipFill>
        </p:spPr>
      </p:sp>
      <p:sp>
        <p:nvSpPr>
          <p:cNvPr name="Freeform 15" id="15"/>
          <p:cNvSpPr/>
          <p:nvPr/>
        </p:nvSpPr>
        <p:spPr>
          <a:xfrm flipH="false" flipV="false" rot="0">
            <a:off x="9476918" y="3431019"/>
            <a:ext cx="1103045" cy="971758"/>
          </a:xfrm>
          <a:custGeom>
            <a:avLst/>
            <a:gdLst/>
            <a:ahLst/>
            <a:cxnLst/>
            <a:rect r="r" b="b" t="t" l="l"/>
            <a:pathLst>
              <a:path h="971758" w="1103045">
                <a:moveTo>
                  <a:pt x="0" y="0"/>
                </a:moveTo>
                <a:lnTo>
                  <a:pt x="1103044" y="0"/>
                </a:lnTo>
                <a:lnTo>
                  <a:pt x="1103044" y="971757"/>
                </a:lnTo>
                <a:lnTo>
                  <a:pt x="0" y="971757"/>
                </a:lnTo>
                <a:lnTo>
                  <a:pt x="0" y="0"/>
                </a:lnTo>
                <a:close/>
              </a:path>
            </a:pathLst>
          </a:custGeom>
          <a:blipFill>
            <a:blip r:embed="rId4"/>
            <a:stretch>
              <a:fillRect l="-545035" t="-49045" r="0" b="-75489"/>
            </a:stretch>
          </a:blipFill>
        </p:spPr>
      </p:sp>
      <p:sp>
        <p:nvSpPr>
          <p:cNvPr name="Freeform 16" id="16"/>
          <p:cNvSpPr/>
          <p:nvPr/>
        </p:nvSpPr>
        <p:spPr>
          <a:xfrm flipH="false" flipV="false" rot="0">
            <a:off x="1221562" y="6617349"/>
            <a:ext cx="1172811" cy="971758"/>
          </a:xfrm>
          <a:custGeom>
            <a:avLst/>
            <a:gdLst/>
            <a:ahLst/>
            <a:cxnLst/>
            <a:rect r="r" b="b" t="t" l="l"/>
            <a:pathLst>
              <a:path h="971758" w="1172811">
                <a:moveTo>
                  <a:pt x="0" y="0"/>
                </a:moveTo>
                <a:lnTo>
                  <a:pt x="1172812" y="0"/>
                </a:lnTo>
                <a:lnTo>
                  <a:pt x="1172812" y="971758"/>
                </a:lnTo>
                <a:lnTo>
                  <a:pt x="0" y="971758"/>
                </a:lnTo>
                <a:lnTo>
                  <a:pt x="0" y="0"/>
                </a:lnTo>
                <a:close/>
              </a:path>
            </a:pathLst>
          </a:custGeom>
          <a:blipFill>
            <a:blip r:embed="rId4"/>
            <a:stretch>
              <a:fillRect l="-464421" t="-60179" r="-101046" b="-86120"/>
            </a:stretch>
          </a:blipFill>
        </p:spPr>
      </p:sp>
      <p:sp>
        <p:nvSpPr>
          <p:cNvPr name="Freeform 17" id="17"/>
          <p:cNvSpPr/>
          <p:nvPr/>
        </p:nvSpPr>
        <p:spPr>
          <a:xfrm flipH="false" flipV="false" rot="0">
            <a:off x="9448295" y="6613117"/>
            <a:ext cx="1131667" cy="971758"/>
          </a:xfrm>
          <a:custGeom>
            <a:avLst/>
            <a:gdLst/>
            <a:ahLst/>
            <a:cxnLst/>
            <a:rect r="r" b="b" t="t" l="l"/>
            <a:pathLst>
              <a:path h="971758" w="1131667">
                <a:moveTo>
                  <a:pt x="0" y="0"/>
                </a:moveTo>
                <a:lnTo>
                  <a:pt x="1131667" y="0"/>
                </a:lnTo>
                <a:lnTo>
                  <a:pt x="1131667" y="971758"/>
                </a:lnTo>
                <a:lnTo>
                  <a:pt x="0" y="971758"/>
                </a:lnTo>
                <a:lnTo>
                  <a:pt x="0" y="0"/>
                </a:lnTo>
                <a:close/>
              </a:path>
            </a:pathLst>
          </a:custGeom>
          <a:blipFill>
            <a:blip r:embed="rId5"/>
            <a:stretch>
              <a:fillRect l="-990" t="-11516" r="-2724" b="-9264"/>
            </a:stretch>
          </a:blipFill>
        </p:spPr>
      </p:sp>
      <p:sp>
        <p:nvSpPr>
          <p:cNvPr name="TextBox 18" id="18"/>
          <p:cNvSpPr txBox="true"/>
          <p:nvPr/>
        </p:nvSpPr>
        <p:spPr>
          <a:xfrm rot="0">
            <a:off x="422706" y="633039"/>
            <a:ext cx="7482398" cy="2320162"/>
          </a:xfrm>
          <a:prstGeom prst="rect">
            <a:avLst/>
          </a:prstGeom>
        </p:spPr>
        <p:txBody>
          <a:bodyPr anchor="t" rtlCol="false" tIns="0" lIns="0" bIns="0" rIns="0">
            <a:spAutoFit/>
          </a:bodyPr>
          <a:lstStyle/>
          <a:p>
            <a:pPr algn="l">
              <a:lnSpc>
                <a:spcPts val="8610"/>
              </a:lnSpc>
            </a:pPr>
            <a:r>
              <a:rPr lang="en-US" b="true" sz="10899" spc="-1286">
                <a:solidFill>
                  <a:srgbClr val="CA0013"/>
                </a:solidFill>
                <a:latin typeface="Inter Bold"/>
                <a:ea typeface="Inter Bold"/>
                <a:cs typeface="Inter Bold"/>
                <a:sym typeface="Inter Bold"/>
              </a:rPr>
              <a:t>PROJECT</a:t>
            </a:r>
          </a:p>
          <a:p>
            <a:pPr algn="l" marL="0" indent="0" lvl="0">
              <a:lnSpc>
                <a:spcPts val="8610"/>
              </a:lnSpc>
            </a:pPr>
            <a:r>
              <a:rPr lang="en-US" b="true" sz="10899" spc="-1286">
                <a:solidFill>
                  <a:srgbClr val="CA0013"/>
                </a:solidFill>
                <a:latin typeface="Inter Bold"/>
                <a:ea typeface="Inter Bold"/>
                <a:cs typeface="Inter Bold"/>
                <a:sym typeface="Inter Bold"/>
              </a:rPr>
              <a:t>OBJECTIVES</a:t>
            </a:r>
          </a:p>
        </p:txBody>
      </p:sp>
      <p:sp>
        <p:nvSpPr>
          <p:cNvPr name="TextBox 19" id="19"/>
          <p:cNvSpPr txBox="true"/>
          <p:nvPr/>
        </p:nvSpPr>
        <p:spPr>
          <a:xfrm rot="0">
            <a:off x="2394374" y="3568600"/>
            <a:ext cx="6375796" cy="629919"/>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Binary Classification</a:t>
            </a:r>
          </a:p>
        </p:txBody>
      </p:sp>
      <p:sp>
        <p:nvSpPr>
          <p:cNvPr name="TextBox 20" id="20"/>
          <p:cNvSpPr txBox="true"/>
          <p:nvPr/>
        </p:nvSpPr>
        <p:spPr>
          <a:xfrm rot="0">
            <a:off x="1216045" y="4840926"/>
            <a:ext cx="7623355" cy="727710"/>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Build binary classification models that are able to predict if a person has or doesn’t have diabetes</a:t>
            </a:r>
          </a:p>
        </p:txBody>
      </p:sp>
      <p:sp>
        <p:nvSpPr>
          <p:cNvPr name="TextBox 21" id="21"/>
          <p:cNvSpPr txBox="true"/>
          <p:nvPr/>
        </p:nvSpPr>
        <p:spPr>
          <a:xfrm rot="0">
            <a:off x="10579962" y="3568600"/>
            <a:ext cx="6375796" cy="629919"/>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Comparative Evaluation</a:t>
            </a:r>
          </a:p>
        </p:txBody>
      </p:sp>
      <p:sp>
        <p:nvSpPr>
          <p:cNvPr name="TextBox 22" id="22"/>
          <p:cNvSpPr txBox="true"/>
          <p:nvPr/>
        </p:nvSpPr>
        <p:spPr>
          <a:xfrm rot="0">
            <a:off x="9448600" y="4840926"/>
            <a:ext cx="7623355" cy="727710"/>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Compare different machine learning models to find the best model based on our goals.</a:t>
            </a:r>
          </a:p>
        </p:txBody>
      </p:sp>
      <p:sp>
        <p:nvSpPr>
          <p:cNvPr name="TextBox 23" id="23"/>
          <p:cNvSpPr txBox="true"/>
          <p:nvPr/>
        </p:nvSpPr>
        <p:spPr>
          <a:xfrm rot="0">
            <a:off x="2394374" y="6750699"/>
            <a:ext cx="6375796" cy="629919"/>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Impact Analysis</a:t>
            </a:r>
          </a:p>
        </p:txBody>
      </p:sp>
      <p:sp>
        <p:nvSpPr>
          <p:cNvPr name="TextBox 24" id="24"/>
          <p:cNvSpPr txBox="true"/>
          <p:nvPr/>
        </p:nvSpPr>
        <p:spPr>
          <a:xfrm rot="0">
            <a:off x="1221562" y="7792207"/>
            <a:ext cx="7623355" cy="1099185"/>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 Assess the health impact of misclassification.</a:t>
            </a:r>
          </a:p>
          <a:p>
            <a:pPr algn="ctr">
              <a:lnSpc>
                <a:spcPts val="2940"/>
              </a:lnSpc>
            </a:pPr>
            <a:r>
              <a:rPr lang="en-US" sz="2100">
                <a:solidFill>
                  <a:srgbClr val="CA0013"/>
                </a:solidFill>
                <a:latin typeface="Open Sans"/>
                <a:ea typeface="Open Sans"/>
                <a:cs typeface="Open Sans"/>
                <a:sym typeface="Open Sans"/>
              </a:rPr>
              <a:t>False Negatives : delay of the treatment</a:t>
            </a:r>
          </a:p>
          <a:p>
            <a:pPr algn="ctr">
              <a:lnSpc>
                <a:spcPts val="2940"/>
              </a:lnSpc>
            </a:pPr>
            <a:r>
              <a:rPr lang="en-US" sz="2100">
                <a:solidFill>
                  <a:srgbClr val="CA0013"/>
                </a:solidFill>
                <a:latin typeface="Open Sans"/>
                <a:ea typeface="Open Sans"/>
                <a:cs typeface="Open Sans"/>
                <a:sym typeface="Open Sans"/>
              </a:rPr>
              <a:t>False Positives : unnecessary stress and expenses</a:t>
            </a:r>
          </a:p>
        </p:txBody>
      </p:sp>
      <p:sp>
        <p:nvSpPr>
          <p:cNvPr name="TextBox 25" id="25"/>
          <p:cNvSpPr txBox="true"/>
          <p:nvPr/>
        </p:nvSpPr>
        <p:spPr>
          <a:xfrm rot="0">
            <a:off x="10579962" y="6750699"/>
            <a:ext cx="6375796" cy="629919"/>
          </a:xfrm>
          <a:prstGeom prst="rect">
            <a:avLst/>
          </a:prstGeom>
        </p:spPr>
        <p:txBody>
          <a:bodyPr anchor="t" rtlCol="false" tIns="0" lIns="0" bIns="0" rIns="0">
            <a:spAutoFit/>
          </a:bodyPr>
          <a:lstStyle/>
          <a:p>
            <a:pPr algn="ctr">
              <a:lnSpc>
                <a:spcPts val="5180"/>
              </a:lnSpc>
            </a:pPr>
            <a:r>
              <a:rPr lang="en-US" sz="3700" b="true">
                <a:solidFill>
                  <a:srgbClr val="CA0013"/>
                </a:solidFill>
                <a:latin typeface="Open Sans Bold"/>
                <a:ea typeface="Open Sans Bold"/>
                <a:cs typeface="Open Sans Bold"/>
                <a:sym typeface="Open Sans Bold"/>
              </a:rPr>
              <a:t>Key Factors</a:t>
            </a:r>
          </a:p>
        </p:txBody>
      </p:sp>
      <p:sp>
        <p:nvSpPr>
          <p:cNvPr name="TextBox 26" id="26"/>
          <p:cNvSpPr txBox="true"/>
          <p:nvPr/>
        </p:nvSpPr>
        <p:spPr>
          <a:xfrm rot="0">
            <a:off x="9448600" y="7792207"/>
            <a:ext cx="7623355" cy="1099185"/>
          </a:xfrm>
          <a:prstGeom prst="rect">
            <a:avLst/>
          </a:prstGeom>
        </p:spPr>
        <p:txBody>
          <a:bodyPr anchor="t" rtlCol="false" tIns="0" lIns="0" bIns="0" rIns="0">
            <a:spAutoFit/>
          </a:bodyPr>
          <a:lstStyle/>
          <a:p>
            <a:pPr algn="ctr">
              <a:lnSpc>
                <a:spcPts val="2940"/>
              </a:lnSpc>
            </a:pPr>
            <a:r>
              <a:rPr lang="en-US" sz="2100">
                <a:solidFill>
                  <a:srgbClr val="CA0013"/>
                </a:solidFill>
                <a:latin typeface="Open Sans"/>
                <a:ea typeface="Open Sans"/>
                <a:cs typeface="Open Sans"/>
                <a:sym typeface="Open Sans"/>
              </a:rPr>
              <a:t>We strive to identify which are the key risk factors that contribute to diabetes. </a:t>
            </a:r>
          </a:p>
          <a:p>
            <a:pPr algn="ctr">
              <a:lnSpc>
                <a:spcPts val="2940"/>
              </a:lnSpc>
            </a:pPr>
          </a:p>
        </p:txBody>
      </p:sp>
      <p:sp>
        <p:nvSpPr>
          <p:cNvPr name="Freeform 27" id="27"/>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6"/>
            <a:stretch>
              <a:fillRect l="0" t="0" r="0" b="0"/>
            </a:stretch>
          </a:blipFill>
        </p:spPr>
      </p:sp>
      <p:sp>
        <p:nvSpPr>
          <p:cNvPr name="TextBox 28" id="28"/>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3"/>
            <a:stretch>
              <a:fillRect l="0" t="0" r="0" b="0"/>
            </a:stretch>
          </a:blipFill>
        </p:spPr>
      </p:sp>
      <p:sp>
        <p:nvSpPr>
          <p:cNvPr name="Freeform 3" id="3"/>
          <p:cNvSpPr/>
          <p:nvPr/>
        </p:nvSpPr>
        <p:spPr>
          <a:xfrm flipH="false" flipV="false" rot="0">
            <a:off x="10871837" y="2323093"/>
            <a:ext cx="5537806" cy="6446574"/>
          </a:xfrm>
          <a:custGeom>
            <a:avLst/>
            <a:gdLst/>
            <a:ahLst/>
            <a:cxnLst/>
            <a:rect r="r" b="b" t="t" l="l"/>
            <a:pathLst>
              <a:path h="6446574" w="5537806">
                <a:moveTo>
                  <a:pt x="0" y="0"/>
                </a:moveTo>
                <a:lnTo>
                  <a:pt x="5537806" y="0"/>
                </a:lnTo>
                <a:lnTo>
                  <a:pt x="5537806" y="6446573"/>
                </a:lnTo>
                <a:lnTo>
                  <a:pt x="0" y="6446573"/>
                </a:lnTo>
                <a:lnTo>
                  <a:pt x="0" y="0"/>
                </a:lnTo>
                <a:close/>
              </a:path>
            </a:pathLst>
          </a:custGeom>
          <a:blipFill>
            <a:blip r:embed="rId4"/>
            <a:stretch>
              <a:fillRect l="0" t="0" r="0" b="0"/>
            </a:stretch>
          </a:blipFill>
        </p:spPr>
      </p:sp>
      <p:sp>
        <p:nvSpPr>
          <p:cNvPr name="TextBox 4" id="4"/>
          <p:cNvSpPr txBox="true"/>
          <p:nvPr/>
        </p:nvSpPr>
        <p:spPr>
          <a:xfrm rot="0">
            <a:off x="422706" y="483123"/>
            <a:ext cx="12600183" cy="2328603"/>
          </a:xfrm>
          <a:prstGeom prst="rect">
            <a:avLst/>
          </a:prstGeom>
        </p:spPr>
        <p:txBody>
          <a:bodyPr anchor="t" rtlCol="false" tIns="0" lIns="0" bIns="0" rIns="0">
            <a:spAutoFit/>
          </a:bodyPr>
          <a:lstStyle/>
          <a:p>
            <a:pPr algn="l" marL="0" indent="0" lvl="0">
              <a:lnSpc>
                <a:spcPts val="8618"/>
              </a:lnSpc>
            </a:pPr>
            <a:r>
              <a:rPr lang="en-US" b="true" sz="10910" i="true" spc="-1287">
                <a:solidFill>
                  <a:srgbClr val="CA0013"/>
                </a:solidFill>
                <a:latin typeface="Inter Bold Italics"/>
                <a:ea typeface="Inter Bold Italics"/>
                <a:cs typeface="Inter Bold Italics"/>
                <a:sym typeface="Inter Bold Italics"/>
              </a:rPr>
              <a:t>DATA CLEANING AND PREPROCESSING</a:t>
            </a:r>
          </a:p>
        </p:txBody>
      </p:sp>
      <p:grpSp>
        <p:nvGrpSpPr>
          <p:cNvPr name="Group 5" id="5"/>
          <p:cNvGrpSpPr/>
          <p:nvPr/>
        </p:nvGrpSpPr>
        <p:grpSpPr>
          <a:xfrm rot="0">
            <a:off x="1887779" y="3424500"/>
            <a:ext cx="7256221" cy="4243759"/>
            <a:chOff x="0" y="0"/>
            <a:chExt cx="9674962" cy="5658345"/>
          </a:xfrm>
        </p:grpSpPr>
        <p:sp>
          <p:nvSpPr>
            <p:cNvPr name="TextBox 6" id="6"/>
            <p:cNvSpPr txBox="true"/>
            <p:nvPr/>
          </p:nvSpPr>
          <p:spPr>
            <a:xfrm rot="0">
              <a:off x="0" y="574242"/>
              <a:ext cx="9434931" cy="1845733"/>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Check the target distribution</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Check the duplicates</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Check missing values</a:t>
              </a:r>
            </a:p>
          </p:txBody>
        </p:sp>
        <p:sp>
          <p:nvSpPr>
            <p:cNvPr name="TextBox 7" id="7"/>
            <p:cNvSpPr txBox="true"/>
            <p:nvPr/>
          </p:nvSpPr>
          <p:spPr>
            <a:xfrm rot="0">
              <a:off x="44245" y="57150"/>
              <a:ext cx="6907718" cy="438150"/>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DATA CLEANING:</a:t>
              </a:r>
            </a:p>
          </p:txBody>
        </p:sp>
        <p:sp>
          <p:nvSpPr>
            <p:cNvPr name="TextBox 8" id="8"/>
            <p:cNvSpPr txBox="true"/>
            <p:nvPr/>
          </p:nvSpPr>
          <p:spPr>
            <a:xfrm rot="0">
              <a:off x="0" y="3166182"/>
              <a:ext cx="6819227" cy="438150"/>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PREPROCESSING:</a:t>
              </a:r>
            </a:p>
          </p:txBody>
        </p:sp>
        <p:sp>
          <p:nvSpPr>
            <p:cNvPr name="TextBox 9" id="9"/>
            <p:cNvSpPr txBox="true"/>
            <p:nvPr/>
          </p:nvSpPr>
          <p:spPr>
            <a:xfrm rot="0">
              <a:off x="0" y="3812612"/>
              <a:ext cx="9674962" cy="1845733"/>
            </a:xfrm>
            <a:prstGeom prst="rect">
              <a:avLst/>
            </a:prstGeom>
          </p:spPr>
          <p:txBody>
            <a:bodyPr anchor="t" rtlCol="false" tIns="0" lIns="0" bIns="0" rIns="0">
              <a:spAutoFit/>
            </a:bodyPr>
            <a:lstStyle/>
            <a:p>
              <a:pPr algn="l">
                <a:lnSpc>
                  <a:spcPts val="3799"/>
                </a:lnSpc>
              </a:pPr>
              <a:r>
                <a:rPr lang="en-US" sz="2499" spc="-74">
                  <a:solidFill>
                    <a:srgbClr val="CA0013"/>
                  </a:solidFill>
                  <a:latin typeface="Open Sans"/>
                  <a:ea typeface="Open Sans"/>
                  <a:cs typeface="Open Sans"/>
                  <a:sym typeface="Open Sans"/>
                </a:rPr>
                <a:t>1) Stratified split</a:t>
              </a:r>
            </a:p>
            <a:p>
              <a:pPr algn="l">
                <a:lnSpc>
                  <a:spcPts val="3799"/>
                </a:lnSpc>
              </a:pPr>
              <a:r>
                <a:rPr lang="en-US" sz="2499" spc="-74">
                  <a:solidFill>
                    <a:srgbClr val="CA0013"/>
                  </a:solidFill>
                  <a:latin typeface="Open Sans"/>
                  <a:ea typeface="Open Sans"/>
                  <a:cs typeface="Open Sans"/>
                  <a:sym typeface="Open Sans"/>
                </a:rPr>
                <a:t>2) 80% training data and 20% testing data</a:t>
              </a:r>
            </a:p>
            <a:p>
              <a:pPr algn="l">
                <a:lnSpc>
                  <a:spcPts val="3799"/>
                </a:lnSpc>
              </a:pPr>
              <a:r>
                <a:rPr lang="en-US" sz="2499" spc="-74">
                  <a:solidFill>
                    <a:srgbClr val="CA0013"/>
                  </a:solidFill>
                  <a:latin typeface="Open Sans"/>
                  <a:ea typeface="Open Sans"/>
                  <a:cs typeface="Open Sans"/>
                  <a:sym typeface="Open Sans"/>
                </a:rPr>
                <a:t>3) random_state = 42</a:t>
              </a:r>
            </a:p>
          </p:txBody>
        </p:sp>
      </p:grpSp>
      <p:sp>
        <p:nvSpPr>
          <p:cNvPr name="TextBox 10" id="10"/>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9229462" y="3421293"/>
            <a:ext cx="7882434" cy="6120801"/>
            <a:chOff x="0" y="0"/>
            <a:chExt cx="2052417" cy="1593725"/>
          </a:xfrm>
        </p:grpSpPr>
        <p:sp>
          <p:nvSpPr>
            <p:cNvPr name="Freeform 3" id="3"/>
            <p:cNvSpPr/>
            <p:nvPr/>
          </p:nvSpPr>
          <p:spPr>
            <a:xfrm flipH="false" flipV="false" rot="0">
              <a:off x="0" y="0"/>
              <a:ext cx="2052417" cy="1593725"/>
            </a:xfrm>
            <a:custGeom>
              <a:avLst/>
              <a:gdLst/>
              <a:ahLst/>
              <a:cxnLst/>
              <a:rect r="r" b="b" t="t" l="l"/>
              <a:pathLst>
                <a:path h="1593725" w="2052417">
                  <a:moveTo>
                    <a:pt x="0" y="0"/>
                  </a:moveTo>
                  <a:lnTo>
                    <a:pt x="2052417" y="0"/>
                  </a:lnTo>
                  <a:lnTo>
                    <a:pt x="2052417" y="1593725"/>
                  </a:lnTo>
                  <a:lnTo>
                    <a:pt x="0" y="1593725"/>
                  </a:lnTo>
                  <a:close/>
                </a:path>
              </a:pathLst>
            </a:custGeom>
            <a:blipFill>
              <a:blip r:embed="rId3"/>
              <a:stretch>
                <a:fillRect l="-1347" t="-655" r="-2020" b="0"/>
              </a:stretch>
            </a:blipFill>
          </p:spPr>
        </p:sp>
      </p:grpSp>
      <p:sp>
        <p:nvSpPr>
          <p:cNvPr name="Freeform 4" id="4"/>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4"/>
            <a:stretch>
              <a:fillRect l="0" t="0" r="0" b="0"/>
            </a:stretch>
          </a:blipFill>
        </p:spPr>
      </p:sp>
      <p:sp>
        <p:nvSpPr>
          <p:cNvPr name="Freeform 5" id="5"/>
          <p:cNvSpPr/>
          <p:nvPr/>
        </p:nvSpPr>
        <p:spPr>
          <a:xfrm flipH="false" flipV="false" rot="0">
            <a:off x="9229462" y="282847"/>
            <a:ext cx="7882434" cy="2972426"/>
          </a:xfrm>
          <a:custGeom>
            <a:avLst/>
            <a:gdLst/>
            <a:ahLst/>
            <a:cxnLst/>
            <a:rect r="r" b="b" t="t" l="l"/>
            <a:pathLst>
              <a:path h="2972426" w="7882434">
                <a:moveTo>
                  <a:pt x="0" y="0"/>
                </a:moveTo>
                <a:lnTo>
                  <a:pt x="7882434" y="0"/>
                </a:lnTo>
                <a:lnTo>
                  <a:pt x="7882434" y="2972426"/>
                </a:lnTo>
                <a:lnTo>
                  <a:pt x="0" y="2972426"/>
                </a:lnTo>
                <a:lnTo>
                  <a:pt x="0" y="0"/>
                </a:lnTo>
                <a:close/>
              </a:path>
            </a:pathLst>
          </a:custGeom>
          <a:blipFill>
            <a:blip r:embed="rId5"/>
            <a:stretch>
              <a:fillRect l="0" t="0" r="0" b="0"/>
            </a:stretch>
          </a:blipFill>
        </p:spPr>
      </p:sp>
      <p:sp>
        <p:nvSpPr>
          <p:cNvPr name="TextBox 6" id="6"/>
          <p:cNvSpPr txBox="true"/>
          <p:nvPr/>
        </p:nvSpPr>
        <p:spPr>
          <a:xfrm rot="0">
            <a:off x="422706" y="483123"/>
            <a:ext cx="12600183" cy="2328603"/>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LOGISTIC REGRESSION</a:t>
            </a:r>
          </a:p>
        </p:txBody>
      </p:sp>
      <p:grpSp>
        <p:nvGrpSpPr>
          <p:cNvPr name="Group 7" id="7"/>
          <p:cNvGrpSpPr/>
          <p:nvPr/>
        </p:nvGrpSpPr>
        <p:grpSpPr>
          <a:xfrm rot="0">
            <a:off x="422706" y="3421293"/>
            <a:ext cx="7076198" cy="1814982"/>
            <a:chOff x="0" y="0"/>
            <a:chExt cx="9434931" cy="2419976"/>
          </a:xfrm>
        </p:grpSpPr>
        <p:sp>
          <p:nvSpPr>
            <p:cNvPr name="TextBox 8" id="8"/>
            <p:cNvSpPr txBox="true"/>
            <p:nvPr/>
          </p:nvSpPr>
          <p:spPr>
            <a:xfrm rot="0">
              <a:off x="0" y="574242"/>
              <a:ext cx="9434931" cy="1845733"/>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A Normal Logistic Regression</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A Balanced Logistic regression</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A Tuned Logistic Regression</a:t>
              </a:r>
            </a:p>
          </p:txBody>
        </p:sp>
        <p:sp>
          <p:nvSpPr>
            <p:cNvPr name="TextBox 9" id="9"/>
            <p:cNvSpPr txBox="true"/>
            <p:nvPr/>
          </p:nvSpPr>
          <p:spPr>
            <a:xfrm rot="0">
              <a:off x="44245" y="57150"/>
              <a:ext cx="6907718" cy="438150"/>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3 WAYS OF IMPLEMENTING IT:</a:t>
              </a:r>
            </a:p>
          </p:txBody>
        </p:sp>
      </p:grpSp>
      <p:sp>
        <p:nvSpPr>
          <p:cNvPr name="TextBox 10" id="10"/>
          <p:cNvSpPr txBox="true"/>
          <p:nvPr/>
        </p:nvSpPr>
        <p:spPr>
          <a:xfrm rot="0">
            <a:off x="422706" y="2625354"/>
            <a:ext cx="8721294" cy="629919"/>
          </a:xfrm>
          <a:prstGeom prst="rect">
            <a:avLst/>
          </a:prstGeom>
        </p:spPr>
        <p:txBody>
          <a:bodyPr anchor="t" rtlCol="false" tIns="0" lIns="0" bIns="0" rIns="0">
            <a:spAutoFit/>
          </a:bodyPr>
          <a:lstStyle/>
          <a:p>
            <a:pPr algn="l">
              <a:lnSpc>
                <a:spcPts val="5180"/>
              </a:lnSpc>
            </a:pPr>
            <a:r>
              <a:rPr lang="en-US" sz="3700" b="true">
                <a:solidFill>
                  <a:srgbClr val="CA0013"/>
                </a:solidFill>
                <a:latin typeface="Open Sans Bold"/>
                <a:ea typeface="Open Sans Bold"/>
                <a:cs typeface="Open Sans Bold"/>
                <a:sym typeface="Open Sans Bold"/>
              </a:rPr>
              <a:t>The easiest model to implement</a:t>
            </a:r>
          </a:p>
        </p:txBody>
      </p:sp>
      <p:grpSp>
        <p:nvGrpSpPr>
          <p:cNvPr name="Group 11" id="11"/>
          <p:cNvGrpSpPr/>
          <p:nvPr/>
        </p:nvGrpSpPr>
        <p:grpSpPr>
          <a:xfrm rot="0">
            <a:off x="422706" y="5495968"/>
            <a:ext cx="7256221" cy="2388235"/>
            <a:chOff x="0" y="0"/>
            <a:chExt cx="9674962" cy="3184314"/>
          </a:xfrm>
        </p:grpSpPr>
        <p:sp>
          <p:nvSpPr>
            <p:cNvPr name="TextBox 12" id="12"/>
            <p:cNvSpPr txBox="true"/>
            <p:nvPr/>
          </p:nvSpPr>
          <p:spPr>
            <a:xfrm rot="0">
              <a:off x="0" y="57150"/>
              <a:ext cx="6819227" cy="438150"/>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EXPLAINING THE TUNING :</a:t>
              </a:r>
            </a:p>
          </p:txBody>
        </p:sp>
        <p:sp>
          <p:nvSpPr>
            <p:cNvPr name="TextBox 13" id="13"/>
            <p:cNvSpPr txBox="true"/>
            <p:nvPr/>
          </p:nvSpPr>
          <p:spPr>
            <a:xfrm rot="0">
              <a:off x="0" y="703580"/>
              <a:ext cx="9674962" cy="2480733"/>
            </a:xfrm>
            <a:prstGeom prst="rect">
              <a:avLst/>
            </a:prstGeom>
          </p:spPr>
          <p:txBody>
            <a:bodyPr anchor="t" rtlCol="false" tIns="0" lIns="0" bIns="0" rIns="0">
              <a:spAutoFit/>
            </a:bodyPr>
            <a:lstStyle/>
            <a:p>
              <a:pPr algn="l">
                <a:lnSpc>
                  <a:spcPts val="3799"/>
                </a:lnSpc>
              </a:pPr>
              <a:r>
                <a:rPr lang="en-US" sz="2499" spc="-74">
                  <a:solidFill>
                    <a:srgbClr val="CA0013"/>
                  </a:solidFill>
                  <a:latin typeface="Open Sans"/>
                  <a:ea typeface="Open Sans"/>
                  <a:cs typeface="Open Sans"/>
                  <a:sym typeface="Open Sans"/>
                </a:rPr>
                <a:t>1) Minimising the false negatives as much as possible</a:t>
              </a:r>
            </a:p>
            <a:p>
              <a:pPr algn="l">
                <a:lnSpc>
                  <a:spcPts val="3799"/>
                </a:lnSpc>
              </a:pPr>
              <a:r>
                <a:rPr lang="en-US" sz="2499" spc="-74">
                  <a:solidFill>
                    <a:srgbClr val="CA0013"/>
                  </a:solidFill>
                  <a:latin typeface="Open Sans"/>
                  <a:ea typeface="Open Sans"/>
                  <a:cs typeface="Open Sans"/>
                  <a:sym typeface="Open Sans"/>
                </a:rPr>
                <a:t>2) Having the best recall on the true positives</a:t>
              </a:r>
            </a:p>
            <a:p>
              <a:pPr algn="l">
                <a:lnSpc>
                  <a:spcPts val="3799"/>
                </a:lnSpc>
              </a:pPr>
              <a:r>
                <a:rPr lang="en-US" sz="2499" spc="-74">
                  <a:solidFill>
                    <a:srgbClr val="CA0013"/>
                  </a:solidFill>
                  <a:latin typeface="Open Sans"/>
                  <a:ea typeface="Open Sans"/>
                  <a:cs typeface="Open Sans"/>
                  <a:sym typeface="Open Sans"/>
                </a:rPr>
                <a:t>3) Improving the overall accuracy</a:t>
              </a:r>
            </a:p>
          </p:txBody>
        </p:sp>
      </p:grpSp>
      <p:sp>
        <p:nvSpPr>
          <p:cNvPr name="TextBox 14" id="14"/>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5</a:t>
            </a:r>
          </a:p>
        </p:txBody>
      </p:sp>
      <p:sp>
        <p:nvSpPr>
          <p:cNvPr name="TextBox 15" id="15"/>
          <p:cNvSpPr txBox="true"/>
          <p:nvPr/>
        </p:nvSpPr>
        <p:spPr>
          <a:xfrm rot="0">
            <a:off x="422706" y="8080418"/>
            <a:ext cx="2340992" cy="412750"/>
          </a:xfrm>
          <a:prstGeom prst="rect">
            <a:avLst/>
          </a:prstGeom>
        </p:spPr>
        <p:txBody>
          <a:bodyPr anchor="t" rtlCol="false" tIns="0" lIns="0" bIns="0" rIns="0">
            <a:spAutoFit/>
          </a:bodyPr>
          <a:lstStyle/>
          <a:p>
            <a:pPr algn="ctr">
              <a:lnSpc>
                <a:spcPts val="3499"/>
              </a:lnSpc>
              <a:spcBef>
                <a:spcPct val="0"/>
              </a:spcBef>
            </a:pPr>
            <a:r>
              <a:rPr lang="en-US" b="true" sz="2499">
                <a:solidFill>
                  <a:srgbClr val="CA0013"/>
                </a:solidFill>
                <a:latin typeface="Inter Bold"/>
                <a:ea typeface="Inter Bold"/>
                <a:cs typeface="Inter Bold"/>
                <a:sym typeface="Inter Bold"/>
              </a:rPr>
              <a:t>PARAMETERS: </a:t>
            </a:r>
          </a:p>
        </p:txBody>
      </p:sp>
      <p:sp>
        <p:nvSpPr>
          <p:cNvPr name="TextBox 16" id="16"/>
          <p:cNvSpPr txBox="true"/>
          <p:nvPr/>
        </p:nvSpPr>
        <p:spPr>
          <a:xfrm rot="0">
            <a:off x="422706" y="8607468"/>
            <a:ext cx="8721294" cy="860425"/>
          </a:xfrm>
          <a:prstGeom prst="rect">
            <a:avLst/>
          </a:prstGeom>
        </p:spPr>
        <p:txBody>
          <a:bodyPr anchor="t" rtlCol="false" tIns="0" lIns="0" bIns="0" rIns="0">
            <a:spAutoFit/>
          </a:bodyPr>
          <a:lstStyle/>
          <a:p>
            <a:pPr algn="l">
              <a:lnSpc>
                <a:spcPts val="3499"/>
              </a:lnSpc>
              <a:spcBef>
                <a:spcPct val="0"/>
              </a:spcBef>
            </a:pPr>
            <a:r>
              <a:rPr lang="en-US" sz="2499">
                <a:solidFill>
                  <a:srgbClr val="CA0013"/>
                </a:solidFill>
                <a:latin typeface="Open Sans"/>
                <a:ea typeface="Open Sans"/>
                <a:cs typeface="Open Sans"/>
                <a:sym typeface="Open Sans"/>
              </a:rPr>
              <a:t>L2 penalty, balanced class weight, liblinear solver, strong regularization of 0.001, and </a:t>
            </a:r>
            <a:r>
              <a:rPr lang="en-US" sz="2499">
                <a:solidFill>
                  <a:srgbClr val="CA0013"/>
                </a:solidFill>
                <a:latin typeface="Open Sans"/>
                <a:ea typeface="Open Sans"/>
                <a:cs typeface="Open Sans"/>
                <a:sym typeface="Open Sans"/>
              </a:rPr>
              <a:t>threshold of 0.46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3"/>
            <a:stretch>
              <a:fillRect l="0" t="0" r="0" b="0"/>
            </a:stretch>
          </a:blipFill>
        </p:spPr>
      </p:sp>
      <p:sp>
        <p:nvSpPr>
          <p:cNvPr name="Freeform 3" id="3"/>
          <p:cNvSpPr/>
          <p:nvPr/>
        </p:nvSpPr>
        <p:spPr>
          <a:xfrm flipH="false" flipV="false" rot="0">
            <a:off x="10438038" y="2291960"/>
            <a:ext cx="6821262" cy="2372613"/>
          </a:xfrm>
          <a:custGeom>
            <a:avLst/>
            <a:gdLst/>
            <a:ahLst/>
            <a:cxnLst/>
            <a:rect r="r" b="b" t="t" l="l"/>
            <a:pathLst>
              <a:path h="2372613" w="6821262">
                <a:moveTo>
                  <a:pt x="0" y="0"/>
                </a:moveTo>
                <a:lnTo>
                  <a:pt x="6821262" y="0"/>
                </a:lnTo>
                <a:lnTo>
                  <a:pt x="6821262" y="2372613"/>
                </a:lnTo>
                <a:lnTo>
                  <a:pt x="0" y="2372613"/>
                </a:lnTo>
                <a:lnTo>
                  <a:pt x="0" y="0"/>
                </a:lnTo>
                <a:close/>
              </a:path>
            </a:pathLst>
          </a:custGeom>
          <a:blipFill>
            <a:blip r:embed="rId4"/>
            <a:stretch>
              <a:fillRect l="0" t="0" r="0" b="0"/>
            </a:stretch>
          </a:blipFill>
        </p:spPr>
      </p:sp>
      <p:sp>
        <p:nvSpPr>
          <p:cNvPr name="Freeform 4" id="4"/>
          <p:cNvSpPr/>
          <p:nvPr/>
        </p:nvSpPr>
        <p:spPr>
          <a:xfrm flipH="false" flipV="false" rot="0">
            <a:off x="11342625" y="4836023"/>
            <a:ext cx="5012089" cy="4427345"/>
          </a:xfrm>
          <a:custGeom>
            <a:avLst/>
            <a:gdLst/>
            <a:ahLst/>
            <a:cxnLst/>
            <a:rect r="r" b="b" t="t" l="l"/>
            <a:pathLst>
              <a:path h="4427345" w="5012089">
                <a:moveTo>
                  <a:pt x="0" y="0"/>
                </a:moveTo>
                <a:lnTo>
                  <a:pt x="5012088" y="0"/>
                </a:lnTo>
                <a:lnTo>
                  <a:pt x="5012088" y="4427345"/>
                </a:lnTo>
                <a:lnTo>
                  <a:pt x="0" y="4427345"/>
                </a:lnTo>
                <a:lnTo>
                  <a:pt x="0" y="0"/>
                </a:lnTo>
                <a:close/>
              </a:path>
            </a:pathLst>
          </a:custGeom>
          <a:blipFill>
            <a:blip r:embed="rId5"/>
            <a:stretch>
              <a:fillRect l="0" t="0" r="0" b="0"/>
            </a:stretch>
          </a:blipFill>
        </p:spPr>
      </p:sp>
      <p:sp>
        <p:nvSpPr>
          <p:cNvPr name="TextBox 5" id="5"/>
          <p:cNvSpPr txBox="true"/>
          <p:nvPr/>
        </p:nvSpPr>
        <p:spPr>
          <a:xfrm rot="0">
            <a:off x="492706" y="884938"/>
            <a:ext cx="13037528" cy="1238796"/>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RANDOM FOREST</a:t>
            </a:r>
          </a:p>
        </p:txBody>
      </p:sp>
      <p:sp>
        <p:nvSpPr>
          <p:cNvPr name="TextBox 6" id="6"/>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6</a:t>
            </a:r>
          </a:p>
        </p:txBody>
      </p:sp>
      <p:sp>
        <p:nvSpPr>
          <p:cNvPr name="TextBox 7" id="7"/>
          <p:cNvSpPr txBox="true"/>
          <p:nvPr/>
        </p:nvSpPr>
        <p:spPr>
          <a:xfrm rot="0">
            <a:off x="492706" y="2349110"/>
            <a:ext cx="5180789"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WHY RANDOM FOREST?</a:t>
            </a:r>
          </a:p>
        </p:txBody>
      </p:sp>
      <p:sp>
        <p:nvSpPr>
          <p:cNvPr name="TextBox 8" id="8"/>
          <p:cNvSpPr txBox="true"/>
          <p:nvPr/>
        </p:nvSpPr>
        <p:spPr>
          <a:xfrm rot="0">
            <a:off x="492706" y="2720585"/>
            <a:ext cx="8224687" cy="927100"/>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capture nonlinear relationships </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robust to overfitting</a:t>
            </a:r>
          </a:p>
        </p:txBody>
      </p:sp>
      <p:sp>
        <p:nvSpPr>
          <p:cNvPr name="TextBox 9" id="9"/>
          <p:cNvSpPr txBox="true"/>
          <p:nvPr/>
        </p:nvSpPr>
        <p:spPr>
          <a:xfrm rot="0">
            <a:off x="492706" y="4114279"/>
            <a:ext cx="5180789"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FINETUNING:</a:t>
            </a:r>
          </a:p>
        </p:txBody>
      </p:sp>
      <p:sp>
        <p:nvSpPr>
          <p:cNvPr name="TextBox 10" id="10"/>
          <p:cNvSpPr txBox="true"/>
          <p:nvPr/>
        </p:nvSpPr>
        <p:spPr>
          <a:xfrm rot="0">
            <a:off x="492706" y="4641850"/>
            <a:ext cx="8224687" cy="927100"/>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RandomizedSearchCV for best hyperparameters</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Threshold Optimization for Recall</a:t>
            </a:r>
          </a:p>
        </p:txBody>
      </p:sp>
      <p:sp>
        <p:nvSpPr>
          <p:cNvPr name="TextBox 11" id="11"/>
          <p:cNvSpPr txBox="true"/>
          <p:nvPr/>
        </p:nvSpPr>
        <p:spPr>
          <a:xfrm rot="0">
            <a:off x="492706" y="5930900"/>
            <a:ext cx="5332242" cy="422275"/>
          </a:xfrm>
          <a:prstGeom prst="rect">
            <a:avLst/>
          </a:prstGeom>
        </p:spPr>
        <p:txBody>
          <a:bodyPr anchor="t" rtlCol="false" tIns="0" lIns="0" bIns="0" rIns="0">
            <a:spAutoFit/>
          </a:bodyPr>
          <a:lstStyle/>
          <a:p>
            <a:pPr algn="l">
              <a:lnSpc>
                <a:spcPts val="3499"/>
              </a:lnSpc>
              <a:spcBef>
                <a:spcPct val="0"/>
              </a:spcBef>
            </a:pPr>
            <a:r>
              <a:rPr lang="en-US" b="true" sz="2499">
                <a:solidFill>
                  <a:srgbClr val="CA0013"/>
                </a:solidFill>
                <a:latin typeface="Open Sans Bold"/>
                <a:ea typeface="Open Sans Bold"/>
                <a:cs typeface="Open Sans Bold"/>
                <a:sym typeface="Open Sans Bold"/>
              </a:rPr>
              <a:t>BEST PARAMETERS:</a:t>
            </a:r>
          </a:p>
        </p:txBody>
      </p:sp>
      <p:sp>
        <p:nvSpPr>
          <p:cNvPr name="TextBox 12" id="12"/>
          <p:cNvSpPr txBox="true"/>
          <p:nvPr/>
        </p:nvSpPr>
        <p:spPr>
          <a:xfrm rot="0">
            <a:off x="492706" y="6590602"/>
            <a:ext cx="10238403" cy="860425"/>
          </a:xfrm>
          <a:prstGeom prst="rect">
            <a:avLst/>
          </a:prstGeom>
        </p:spPr>
        <p:txBody>
          <a:bodyPr anchor="t" rtlCol="false" tIns="0" lIns="0" bIns="0" rIns="0">
            <a:spAutoFit/>
          </a:bodyPr>
          <a:lstStyle/>
          <a:p>
            <a:pPr algn="l">
              <a:lnSpc>
                <a:spcPts val="3499"/>
              </a:lnSpc>
              <a:spcBef>
                <a:spcPct val="0"/>
              </a:spcBef>
            </a:pPr>
            <a:r>
              <a:rPr lang="en-US" sz="2499">
                <a:solidFill>
                  <a:srgbClr val="CA0013"/>
                </a:solidFill>
                <a:latin typeface="Open Sans"/>
                <a:ea typeface="Open Sans"/>
                <a:cs typeface="Open Sans"/>
                <a:sym typeface="Open Sans"/>
              </a:rPr>
              <a:t>n_estimators: 400, min_samples_split: 2, min_samples_leaf: 10, max_depth: 10, class_weight: balanced, and threshold: 0.4764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3"/>
            <a:stretch>
              <a:fillRect l="0" t="0" r="0" b="0"/>
            </a:stretch>
          </a:blipFill>
        </p:spPr>
      </p:sp>
      <p:sp>
        <p:nvSpPr>
          <p:cNvPr name="Freeform 3" id="3"/>
          <p:cNvSpPr/>
          <p:nvPr/>
        </p:nvSpPr>
        <p:spPr>
          <a:xfrm flipH="false" flipV="false" rot="0">
            <a:off x="8958235" y="2429755"/>
            <a:ext cx="9144000" cy="2137410"/>
          </a:xfrm>
          <a:custGeom>
            <a:avLst/>
            <a:gdLst/>
            <a:ahLst/>
            <a:cxnLst/>
            <a:rect r="r" b="b" t="t" l="l"/>
            <a:pathLst>
              <a:path h="2137410" w="9144000">
                <a:moveTo>
                  <a:pt x="0" y="0"/>
                </a:moveTo>
                <a:lnTo>
                  <a:pt x="9144000" y="0"/>
                </a:lnTo>
                <a:lnTo>
                  <a:pt x="9144000" y="2137410"/>
                </a:lnTo>
                <a:lnTo>
                  <a:pt x="0" y="2137410"/>
                </a:lnTo>
                <a:lnTo>
                  <a:pt x="0" y="0"/>
                </a:lnTo>
                <a:close/>
              </a:path>
            </a:pathLst>
          </a:custGeom>
          <a:blipFill>
            <a:blip r:embed="rId4"/>
            <a:stretch>
              <a:fillRect l="0" t="0" r="0" b="0"/>
            </a:stretch>
          </a:blipFill>
        </p:spPr>
      </p:sp>
      <p:sp>
        <p:nvSpPr>
          <p:cNvPr name="Freeform 4" id="4"/>
          <p:cNvSpPr/>
          <p:nvPr/>
        </p:nvSpPr>
        <p:spPr>
          <a:xfrm flipH="false" flipV="false" rot="0">
            <a:off x="10864114" y="4862350"/>
            <a:ext cx="5332242" cy="4749728"/>
          </a:xfrm>
          <a:custGeom>
            <a:avLst/>
            <a:gdLst/>
            <a:ahLst/>
            <a:cxnLst/>
            <a:rect r="r" b="b" t="t" l="l"/>
            <a:pathLst>
              <a:path h="4749728" w="5332242">
                <a:moveTo>
                  <a:pt x="0" y="0"/>
                </a:moveTo>
                <a:lnTo>
                  <a:pt x="5332242" y="0"/>
                </a:lnTo>
                <a:lnTo>
                  <a:pt x="5332242" y="4749728"/>
                </a:lnTo>
                <a:lnTo>
                  <a:pt x="0" y="4749728"/>
                </a:lnTo>
                <a:lnTo>
                  <a:pt x="0" y="0"/>
                </a:lnTo>
                <a:close/>
              </a:path>
            </a:pathLst>
          </a:custGeom>
          <a:blipFill>
            <a:blip r:embed="rId5"/>
            <a:stretch>
              <a:fillRect l="0" t="0" r="0" b="0"/>
            </a:stretch>
          </a:blipFill>
        </p:spPr>
      </p:sp>
      <p:sp>
        <p:nvSpPr>
          <p:cNvPr name="TextBox 5" id="5"/>
          <p:cNvSpPr txBox="true"/>
          <p:nvPr/>
        </p:nvSpPr>
        <p:spPr>
          <a:xfrm rot="0">
            <a:off x="492706" y="884938"/>
            <a:ext cx="13037528" cy="1238796"/>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GRADIENT BOOSTING</a:t>
            </a:r>
          </a:p>
        </p:txBody>
      </p:sp>
      <p:sp>
        <p:nvSpPr>
          <p:cNvPr name="TextBox 6" id="6"/>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7</a:t>
            </a:r>
          </a:p>
        </p:txBody>
      </p:sp>
      <p:sp>
        <p:nvSpPr>
          <p:cNvPr name="TextBox 7" id="7"/>
          <p:cNvSpPr txBox="true"/>
          <p:nvPr/>
        </p:nvSpPr>
        <p:spPr>
          <a:xfrm rot="0">
            <a:off x="492706" y="2349110"/>
            <a:ext cx="5180789"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WHY LIGHTGBM?</a:t>
            </a:r>
          </a:p>
        </p:txBody>
      </p:sp>
      <p:sp>
        <p:nvSpPr>
          <p:cNvPr name="TextBox 8" id="8"/>
          <p:cNvSpPr txBox="true"/>
          <p:nvPr/>
        </p:nvSpPr>
        <p:spPr>
          <a:xfrm rot="0">
            <a:off x="492706" y="2758685"/>
            <a:ext cx="8224687" cy="1403350"/>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A Tree-based algorithm for large datasets</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Handles non-linear interactions</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Tune decision threshold after probability output</a:t>
            </a:r>
          </a:p>
        </p:txBody>
      </p:sp>
      <p:sp>
        <p:nvSpPr>
          <p:cNvPr name="TextBox 9" id="9"/>
          <p:cNvSpPr txBox="true"/>
          <p:nvPr/>
        </p:nvSpPr>
        <p:spPr>
          <a:xfrm rot="0">
            <a:off x="492706" y="6325989"/>
            <a:ext cx="5180789"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FINETUNING:</a:t>
            </a:r>
          </a:p>
        </p:txBody>
      </p:sp>
      <p:sp>
        <p:nvSpPr>
          <p:cNvPr name="TextBox 10" id="10"/>
          <p:cNvSpPr txBox="true"/>
          <p:nvPr/>
        </p:nvSpPr>
        <p:spPr>
          <a:xfrm rot="0">
            <a:off x="492706" y="6735564"/>
            <a:ext cx="8224687" cy="927100"/>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RandomizedSearchCV for best hyperparameters</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Threshold Optimization for Recall</a:t>
            </a:r>
          </a:p>
        </p:txBody>
      </p:sp>
      <p:sp>
        <p:nvSpPr>
          <p:cNvPr name="TextBox 11" id="11"/>
          <p:cNvSpPr txBox="true"/>
          <p:nvPr/>
        </p:nvSpPr>
        <p:spPr>
          <a:xfrm rot="0">
            <a:off x="492706" y="4285860"/>
            <a:ext cx="4836953" cy="422275"/>
          </a:xfrm>
          <a:prstGeom prst="rect">
            <a:avLst/>
          </a:prstGeom>
        </p:spPr>
        <p:txBody>
          <a:bodyPr anchor="t" rtlCol="false" tIns="0" lIns="0" bIns="0" rIns="0">
            <a:spAutoFit/>
          </a:bodyPr>
          <a:lstStyle/>
          <a:p>
            <a:pPr algn="l">
              <a:lnSpc>
                <a:spcPts val="3499"/>
              </a:lnSpc>
              <a:spcBef>
                <a:spcPct val="0"/>
              </a:spcBef>
            </a:pPr>
            <a:r>
              <a:rPr lang="en-US" b="true" sz="2499">
                <a:solidFill>
                  <a:srgbClr val="CA0013"/>
                </a:solidFill>
                <a:latin typeface="Open Sans Bold"/>
                <a:ea typeface="Open Sans Bold"/>
                <a:cs typeface="Open Sans Bold"/>
                <a:sym typeface="Open Sans Bold"/>
              </a:rPr>
              <a:t>THREE DIFFERENT MODELS</a:t>
            </a:r>
          </a:p>
        </p:txBody>
      </p:sp>
      <p:sp>
        <p:nvSpPr>
          <p:cNvPr name="TextBox 12" id="12"/>
          <p:cNvSpPr txBox="true"/>
          <p:nvPr/>
        </p:nvSpPr>
        <p:spPr>
          <a:xfrm rot="0">
            <a:off x="492706" y="4754378"/>
            <a:ext cx="8907884" cy="12985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CA0013"/>
                </a:solidFill>
                <a:latin typeface="Open Sans"/>
                <a:ea typeface="Open Sans"/>
                <a:cs typeface="Open Sans"/>
                <a:sym typeface="Open Sans"/>
              </a:rPr>
              <a:t>Gradient Boosting with a</a:t>
            </a:r>
            <a:r>
              <a:rPr lang="en-US" sz="2499">
                <a:solidFill>
                  <a:srgbClr val="CA0013"/>
                </a:solidFill>
                <a:latin typeface="Open Sans"/>
                <a:ea typeface="Open Sans"/>
                <a:cs typeface="Open Sans"/>
                <a:sym typeface="Open Sans"/>
              </a:rPr>
              <a:t> custom loss function</a:t>
            </a:r>
          </a:p>
          <a:p>
            <a:pPr algn="l" marL="539749" indent="-269875" lvl="1">
              <a:lnSpc>
                <a:spcPts val="3499"/>
              </a:lnSpc>
              <a:buFont typeface="Arial"/>
              <a:buChar char="•"/>
            </a:pPr>
            <a:r>
              <a:rPr lang="en-US" sz="2499">
                <a:solidFill>
                  <a:srgbClr val="CA0013"/>
                </a:solidFill>
                <a:latin typeface="Open Sans"/>
                <a:ea typeface="Open Sans"/>
                <a:cs typeface="Open Sans"/>
                <a:sym typeface="Open Sans"/>
              </a:rPr>
              <a:t>Gradient Boosting with binary logistic objective</a:t>
            </a:r>
          </a:p>
          <a:p>
            <a:pPr algn="l" marL="539749" indent="-269875" lvl="1">
              <a:lnSpc>
                <a:spcPts val="3499"/>
              </a:lnSpc>
              <a:buFont typeface="Arial"/>
              <a:buChar char="•"/>
            </a:pPr>
            <a:r>
              <a:rPr lang="en-US" sz="2499">
                <a:solidFill>
                  <a:srgbClr val="CA0013"/>
                </a:solidFill>
                <a:latin typeface="Open Sans"/>
                <a:ea typeface="Open Sans"/>
                <a:cs typeface="Open Sans"/>
                <a:sym typeface="Open Sans"/>
              </a:rPr>
              <a:t>Balanced Gradient Boosting with binary logistic objective</a:t>
            </a:r>
          </a:p>
        </p:txBody>
      </p:sp>
      <p:sp>
        <p:nvSpPr>
          <p:cNvPr name="TextBox 13" id="13"/>
          <p:cNvSpPr txBox="true"/>
          <p:nvPr/>
        </p:nvSpPr>
        <p:spPr>
          <a:xfrm rot="0">
            <a:off x="492706" y="7786489"/>
            <a:ext cx="5332242" cy="422275"/>
          </a:xfrm>
          <a:prstGeom prst="rect">
            <a:avLst/>
          </a:prstGeom>
        </p:spPr>
        <p:txBody>
          <a:bodyPr anchor="t" rtlCol="false" tIns="0" lIns="0" bIns="0" rIns="0">
            <a:spAutoFit/>
          </a:bodyPr>
          <a:lstStyle/>
          <a:p>
            <a:pPr algn="l">
              <a:lnSpc>
                <a:spcPts val="3499"/>
              </a:lnSpc>
              <a:spcBef>
                <a:spcPct val="0"/>
              </a:spcBef>
            </a:pPr>
            <a:r>
              <a:rPr lang="en-US" b="true" sz="2499">
                <a:solidFill>
                  <a:srgbClr val="CA0013"/>
                </a:solidFill>
                <a:latin typeface="Open Sans Bold"/>
                <a:ea typeface="Open Sans Bold"/>
                <a:cs typeface="Open Sans Bold"/>
                <a:sym typeface="Open Sans Bold"/>
              </a:rPr>
              <a:t>BEST PARAMETERS:</a:t>
            </a:r>
          </a:p>
        </p:txBody>
      </p:sp>
      <p:sp>
        <p:nvSpPr>
          <p:cNvPr name="TextBox 14" id="14"/>
          <p:cNvSpPr txBox="true"/>
          <p:nvPr/>
        </p:nvSpPr>
        <p:spPr>
          <a:xfrm rot="0">
            <a:off x="492706" y="8300810"/>
            <a:ext cx="10238403" cy="1298575"/>
          </a:xfrm>
          <a:prstGeom prst="rect">
            <a:avLst/>
          </a:prstGeom>
        </p:spPr>
        <p:txBody>
          <a:bodyPr anchor="t" rtlCol="false" tIns="0" lIns="0" bIns="0" rIns="0">
            <a:spAutoFit/>
          </a:bodyPr>
          <a:lstStyle/>
          <a:p>
            <a:pPr algn="l">
              <a:lnSpc>
                <a:spcPts val="3499"/>
              </a:lnSpc>
              <a:spcBef>
                <a:spcPct val="0"/>
              </a:spcBef>
            </a:pPr>
            <a:r>
              <a:rPr lang="en-US" sz="2499">
                <a:solidFill>
                  <a:srgbClr val="CA0013"/>
                </a:solidFill>
                <a:latin typeface="Open Sans"/>
                <a:ea typeface="Open Sans"/>
                <a:cs typeface="Open Sans"/>
                <a:sym typeface="Open Sans"/>
              </a:rPr>
              <a:t>num_leaves: 15, n_estimators: 500, min_child_samples: 20, learning_rate: 0.05, lambda_l2: 1,</a:t>
            </a:r>
            <a:r>
              <a:rPr lang="en-US" sz="2499">
                <a:solidFill>
                  <a:srgbClr val="CA0013"/>
                </a:solidFill>
                <a:latin typeface="Open Sans"/>
                <a:ea typeface="Open Sans"/>
                <a:cs typeface="Open Sans"/>
                <a:sym typeface="Open Sans"/>
              </a:rPr>
              <a:t> lambda_l1: 1, feature_fraction: 0.6, bagging_fraction: 0.8, and threshold: -1.92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3"/>
            <a:stretch>
              <a:fillRect l="0" t="0" r="0" b="0"/>
            </a:stretch>
          </a:blipFill>
        </p:spPr>
      </p:sp>
      <p:sp>
        <p:nvSpPr>
          <p:cNvPr name="Freeform 3" id="3"/>
          <p:cNvSpPr/>
          <p:nvPr/>
        </p:nvSpPr>
        <p:spPr>
          <a:xfrm flipH="false" flipV="false" rot="0">
            <a:off x="9802774" y="4697285"/>
            <a:ext cx="7883102" cy="3241926"/>
          </a:xfrm>
          <a:custGeom>
            <a:avLst/>
            <a:gdLst/>
            <a:ahLst/>
            <a:cxnLst/>
            <a:rect r="r" b="b" t="t" l="l"/>
            <a:pathLst>
              <a:path h="3241926" w="7883102">
                <a:moveTo>
                  <a:pt x="0" y="0"/>
                </a:moveTo>
                <a:lnTo>
                  <a:pt x="7883102" y="0"/>
                </a:lnTo>
                <a:lnTo>
                  <a:pt x="7883102" y="3241925"/>
                </a:lnTo>
                <a:lnTo>
                  <a:pt x="0" y="3241925"/>
                </a:lnTo>
                <a:lnTo>
                  <a:pt x="0" y="0"/>
                </a:lnTo>
                <a:close/>
              </a:path>
            </a:pathLst>
          </a:custGeom>
          <a:blipFill>
            <a:blip r:embed="rId4"/>
            <a:stretch>
              <a:fillRect l="0" t="0" r="0" b="0"/>
            </a:stretch>
          </a:blipFill>
        </p:spPr>
      </p:sp>
      <p:sp>
        <p:nvSpPr>
          <p:cNvPr name="Freeform 4" id="4"/>
          <p:cNvSpPr/>
          <p:nvPr/>
        </p:nvSpPr>
        <p:spPr>
          <a:xfrm flipH="false" flipV="false" rot="0">
            <a:off x="9831537" y="8213069"/>
            <a:ext cx="7825575" cy="1525987"/>
          </a:xfrm>
          <a:custGeom>
            <a:avLst/>
            <a:gdLst/>
            <a:ahLst/>
            <a:cxnLst/>
            <a:rect r="r" b="b" t="t" l="l"/>
            <a:pathLst>
              <a:path h="1525987" w="7825575">
                <a:moveTo>
                  <a:pt x="0" y="0"/>
                </a:moveTo>
                <a:lnTo>
                  <a:pt x="7825575" y="0"/>
                </a:lnTo>
                <a:lnTo>
                  <a:pt x="7825575" y="1525987"/>
                </a:lnTo>
                <a:lnTo>
                  <a:pt x="0" y="1525987"/>
                </a:lnTo>
                <a:lnTo>
                  <a:pt x="0" y="0"/>
                </a:lnTo>
                <a:close/>
              </a:path>
            </a:pathLst>
          </a:custGeom>
          <a:blipFill>
            <a:blip r:embed="rId5"/>
            <a:stretch>
              <a:fillRect l="0" t="0" r="0" b="0"/>
            </a:stretch>
          </a:blipFill>
        </p:spPr>
      </p:sp>
      <p:sp>
        <p:nvSpPr>
          <p:cNvPr name="Freeform 5" id="5"/>
          <p:cNvSpPr/>
          <p:nvPr/>
        </p:nvSpPr>
        <p:spPr>
          <a:xfrm flipH="false" flipV="false" rot="0">
            <a:off x="9802774" y="2360284"/>
            <a:ext cx="7883102" cy="2098876"/>
          </a:xfrm>
          <a:custGeom>
            <a:avLst/>
            <a:gdLst/>
            <a:ahLst/>
            <a:cxnLst/>
            <a:rect r="r" b="b" t="t" l="l"/>
            <a:pathLst>
              <a:path h="2098876" w="7883102">
                <a:moveTo>
                  <a:pt x="0" y="0"/>
                </a:moveTo>
                <a:lnTo>
                  <a:pt x="7883102" y="0"/>
                </a:lnTo>
                <a:lnTo>
                  <a:pt x="7883102" y="2098876"/>
                </a:lnTo>
                <a:lnTo>
                  <a:pt x="0" y="2098876"/>
                </a:lnTo>
                <a:lnTo>
                  <a:pt x="0" y="0"/>
                </a:lnTo>
                <a:close/>
              </a:path>
            </a:pathLst>
          </a:custGeom>
          <a:blipFill>
            <a:blip r:embed="rId6"/>
            <a:stretch>
              <a:fillRect l="0" t="0" r="0" b="0"/>
            </a:stretch>
          </a:blipFill>
        </p:spPr>
      </p:sp>
      <p:sp>
        <p:nvSpPr>
          <p:cNvPr name="TextBox 6" id="6"/>
          <p:cNvSpPr txBox="true"/>
          <p:nvPr/>
        </p:nvSpPr>
        <p:spPr>
          <a:xfrm rot="0">
            <a:off x="492706" y="884938"/>
            <a:ext cx="13701209" cy="1238796"/>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MLP NEURAL NETWORK</a:t>
            </a:r>
          </a:p>
        </p:txBody>
      </p:sp>
      <p:sp>
        <p:nvSpPr>
          <p:cNvPr name="TextBox 7" id="7"/>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8</a:t>
            </a:r>
          </a:p>
        </p:txBody>
      </p:sp>
      <p:sp>
        <p:nvSpPr>
          <p:cNvPr name="TextBox 8" id="8"/>
          <p:cNvSpPr txBox="true"/>
          <p:nvPr/>
        </p:nvSpPr>
        <p:spPr>
          <a:xfrm rot="0">
            <a:off x="410610" y="2461870"/>
            <a:ext cx="6486027"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4 VERSIONS TO FIND THE BEST MODEL</a:t>
            </a:r>
          </a:p>
        </p:txBody>
      </p:sp>
      <p:sp>
        <p:nvSpPr>
          <p:cNvPr name="TextBox 9" id="9"/>
          <p:cNvSpPr txBox="true"/>
          <p:nvPr/>
        </p:nvSpPr>
        <p:spPr>
          <a:xfrm rot="0">
            <a:off x="410610" y="2817685"/>
            <a:ext cx="8224687" cy="1879600"/>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v1 : Original model trained with GridSearchCV</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v2 : v1 architechture with an f1 threshold tuning</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v3 : SMOTE with an f1 scoring</a:t>
            </a:r>
          </a:p>
          <a:p>
            <a:pPr algn="l" marL="539749" indent="-269875" lvl="1">
              <a:lnSpc>
                <a:spcPts val="3799"/>
              </a:lnSpc>
              <a:buFont typeface="Arial"/>
              <a:buChar char="•"/>
            </a:pPr>
            <a:r>
              <a:rPr lang="en-US" sz="2499" spc="-74">
                <a:solidFill>
                  <a:srgbClr val="CA0013"/>
                </a:solidFill>
                <a:latin typeface="Open Sans"/>
                <a:ea typeface="Open Sans"/>
                <a:cs typeface="Open Sans"/>
                <a:sym typeface="Open Sans"/>
              </a:rPr>
              <a:t>v4 : Deepest architechture search possible</a:t>
            </a:r>
          </a:p>
        </p:txBody>
      </p:sp>
      <p:sp>
        <p:nvSpPr>
          <p:cNvPr name="TextBox 10" id="10"/>
          <p:cNvSpPr txBox="true"/>
          <p:nvPr/>
        </p:nvSpPr>
        <p:spPr>
          <a:xfrm rot="0">
            <a:off x="410610" y="5802808"/>
            <a:ext cx="6729377" cy="314325"/>
          </a:xfrm>
          <a:prstGeom prst="rect">
            <a:avLst/>
          </a:prstGeom>
        </p:spPr>
        <p:txBody>
          <a:bodyPr anchor="t" rtlCol="false" tIns="0" lIns="0" bIns="0" rIns="0">
            <a:spAutoFit/>
          </a:bodyPr>
          <a:lstStyle/>
          <a:p>
            <a:pPr algn="l" marL="0" indent="0" lvl="0">
              <a:lnSpc>
                <a:spcPts val="2324"/>
              </a:lnSpc>
            </a:pPr>
            <a:r>
              <a:rPr lang="en-US" b="true" sz="2499" spc="-74">
                <a:solidFill>
                  <a:srgbClr val="CA0013"/>
                </a:solidFill>
                <a:latin typeface="Open Sans Bold"/>
                <a:ea typeface="Open Sans Bold"/>
                <a:cs typeface="Open Sans Bold"/>
                <a:sym typeface="Open Sans Bold"/>
              </a:rPr>
              <a:t>THRESHOLD CALIBRATION IS DECISIVE</a:t>
            </a:r>
          </a:p>
        </p:txBody>
      </p:sp>
      <p:sp>
        <p:nvSpPr>
          <p:cNvPr name="TextBox 11" id="11"/>
          <p:cNvSpPr txBox="true"/>
          <p:nvPr/>
        </p:nvSpPr>
        <p:spPr>
          <a:xfrm rot="0">
            <a:off x="410610" y="6242048"/>
            <a:ext cx="8224687" cy="1879600"/>
          </a:xfrm>
          <a:prstGeom prst="rect">
            <a:avLst/>
          </a:prstGeom>
        </p:spPr>
        <p:txBody>
          <a:bodyPr anchor="t" rtlCol="false" tIns="0" lIns="0" bIns="0" rIns="0">
            <a:spAutoFit/>
          </a:bodyPr>
          <a:lstStyle/>
          <a:p>
            <a:pPr algn="l">
              <a:lnSpc>
                <a:spcPts val="3799"/>
              </a:lnSpc>
            </a:pPr>
            <a:r>
              <a:rPr lang="en-US" sz="2499" spc="-74">
                <a:solidFill>
                  <a:srgbClr val="CA0013"/>
                </a:solidFill>
                <a:latin typeface="Open Sans"/>
                <a:ea typeface="Open Sans"/>
                <a:cs typeface="Open Sans"/>
                <a:sym typeface="Open Sans"/>
              </a:rPr>
              <a:t>The version 1 did not perform well at threshold 0.50 (6113 of 7069 diabetic patient missed). Therefore lowering the threshold to 0.19 convert this discriminative bias into an usable recall.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2267093" y="2674467"/>
            <a:ext cx="5415028" cy="6574381"/>
          </a:xfrm>
          <a:custGeom>
            <a:avLst/>
            <a:gdLst/>
            <a:ahLst/>
            <a:cxnLst/>
            <a:rect r="r" b="b" t="t" l="l"/>
            <a:pathLst>
              <a:path h="6574381" w="5415028">
                <a:moveTo>
                  <a:pt x="0" y="0"/>
                </a:moveTo>
                <a:lnTo>
                  <a:pt x="5415027" y="0"/>
                </a:lnTo>
                <a:lnTo>
                  <a:pt x="5415027" y="6574381"/>
                </a:lnTo>
                <a:lnTo>
                  <a:pt x="0" y="6574381"/>
                </a:lnTo>
                <a:lnTo>
                  <a:pt x="0" y="0"/>
                </a:lnTo>
                <a:close/>
              </a:path>
            </a:pathLst>
          </a:custGeom>
          <a:blipFill>
            <a:blip r:embed="rId2"/>
            <a:stretch>
              <a:fillRect l="0" t="0" r="0" b="0"/>
            </a:stretch>
          </a:blipFill>
        </p:spPr>
      </p:sp>
      <p:sp>
        <p:nvSpPr>
          <p:cNvPr name="Freeform 3" id="3"/>
          <p:cNvSpPr/>
          <p:nvPr/>
        </p:nvSpPr>
        <p:spPr>
          <a:xfrm flipH="false" flipV="false" rot="0">
            <a:off x="492176" y="2674467"/>
            <a:ext cx="5528731" cy="6583833"/>
          </a:xfrm>
          <a:custGeom>
            <a:avLst/>
            <a:gdLst/>
            <a:ahLst/>
            <a:cxnLst/>
            <a:rect r="r" b="b" t="t" l="l"/>
            <a:pathLst>
              <a:path h="6583833" w="5528731">
                <a:moveTo>
                  <a:pt x="0" y="0"/>
                </a:moveTo>
                <a:lnTo>
                  <a:pt x="5528731" y="0"/>
                </a:lnTo>
                <a:lnTo>
                  <a:pt x="5528731" y="6583833"/>
                </a:lnTo>
                <a:lnTo>
                  <a:pt x="0" y="6583833"/>
                </a:lnTo>
                <a:lnTo>
                  <a:pt x="0" y="0"/>
                </a:lnTo>
                <a:close/>
              </a:path>
            </a:pathLst>
          </a:custGeom>
          <a:blipFill>
            <a:blip r:embed="rId3"/>
            <a:stretch>
              <a:fillRect l="0" t="0" r="0" b="0"/>
            </a:stretch>
          </a:blipFill>
        </p:spPr>
      </p:sp>
      <p:sp>
        <p:nvSpPr>
          <p:cNvPr name="TextBox 4" id="4"/>
          <p:cNvSpPr txBox="true"/>
          <p:nvPr/>
        </p:nvSpPr>
        <p:spPr>
          <a:xfrm rot="0">
            <a:off x="2625236" y="888895"/>
            <a:ext cx="13037528" cy="1234839"/>
          </a:xfrm>
          <a:prstGeom prst="rect">
            <a:avLst/>
          </a:prstGeom>
        </p:spPr>
        <p:txBody>
          <a:bodyPr anchor="t" rtlCol="false" tIns="0" lIns="0" bIns="0" rIns="0">
            <a:spAutoFit/>
          </a:bodyPr>
          <a:lstStyle/>
          <a:p>
            <a:pPr algn="ctr" marL="0" indent="0" lvl="0">
              <a:lnSpc>
                <a:spcPts val="8618"/>
              </a:lnSpc>
            </a:pPr>
            <a:r>
              <a:rPr lang="en-US" b="true" sz="10910" spc="-1287">
                <a:solidFill>
                  <a:srgbClr val="CA0013"/>
                </a:solidFill>
                <a:latin typeface="Inter Bold"/>
                <a:ea typeface="Inter Bold"/>
                <a:cs typeface="Inter Bold"/>
                <a:sym typeface="Inter Bold"/>
              </a:rPr>
              <a:t>SHAP ANALYSIS</a:t>
            </a:r>
          </a:p>
        </p:txBody>
      </p:sp>
      <p:sp>
        <p:nvSpPr>
          <p:cNvPr name="TextBox 5" id="5"/>
          <p:cNvSpPr txBox="true"/>
          <p:nvPr/>
        </p:nvSpPr>
        <p:spPr>
          <a:xfrm rot="0">
            <a:off x="6354282" y="2076109"/>
            <a:ext cx="5579435" cy="7432675"/>
          </a:xfrm>
          <a:prstGeom prst="rect">
            <a:avLst/>
          </a:prstGeom>
        </p:spPr>
        <p:txBody>
          <a:bodyPr anchor="t" rtlCol="false" tIns="0" lIns="0" bIns="0" rIns="0">
            <a:spAutoFit/>
          </a:bodyPr>
          <a:lstStyle/>
          <a:p>
            <a:pPr algn="l">
              <a:lnSpc>
                <a:spcPts val="3499"/>
              </a:lnSpc>
            </a:pPr>
            <a:r>
              <a:rPr lang="en-US" sz="2499" b="true">
                <a:solidFill>
                  <a:srgbClr val="CA0013"/>
                </a:solidFill>
                <a:latin typeface="Open Sans Bold"/>
                <a:ea typeface="Open Sans Bold"/>
                <a:cs typeface="Open Sans Bold"/>
                <a:sym typeface="Open Sans Bold"/>
              </a:rPr>
              <a:t>Most significant features for Prediction: </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General Health score</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 Blood Pressure</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 Cholesterol</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Age</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BMI</a:t>
            </a:r>
          </a:p>
          <a:p>
            <a:pPr algn="l">
              <a:lnSpc>
                <a:spcPts val="3499"/>
              </a:lnSpc>
            </a:pPr>
          </a:p>
          <a:p>
            <a:pPr algn="l">
              <a:lnSpc>
                <a:spcPts val="3499"/>
              </a:lnSpc>
            </a:pPr>
            <a:r>
              <a:rPr lang="en-US" sz="2499" b="true">
                <a:solidFill>
                  <a:srgbClr val="CA0013"/>
                </a:solidFill>
                <a:latin typeface="Open Sans Bold"/>
                <a:ea typeface="Open Sans Bold"/>
                <a:cs typeface="Open Sans Bold"/>
                <a:sym typeface="Open Sans Bold"/>
              </a:rPr>
              <a:t>How does each parameter affect the possibility of a positive prediction?</a:t>
            </a:r>
            <a:r>
              <a:rPr lang="en-US" sz="2499">
                <a:solidFill>
                  <a:srgbClr val="CA0013"/>
                </a:solidFill>
                <a:latin typeface="Open Sans"/>
                <a:ea typeface="Open Sans"/>
                <a:cs typeface="Open Sans"/>
                <a:sym typeface="Open Sans"/>
              </a:rPr>
              <a:t> </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 value of general health</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 blood pressure</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older age</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higher BMI</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high cholesterol</a:t>
            </a:r>
          </a:p>
          <a:p>
            <a:pPr algn="l" marL="539748" indent="-269874" lvl="1">
              <a:lnSpc>
                <a:spcPts val="3499"/>
              </a:lnSpc>
              <a:buFont typeface="Arial"/>
              <a:buChar char="•"/>
            </a:pPr>
            <a:r>
              <a:rPr lang="en-US" sz="2499">
                <a:solidFill>
                  <a:srgbClr val="CA0013"/>
                </a:solidFill>
                <a:latin typeface="Open Sans"/>
                <a:ea typeface="Open Sans"/>
                <a:cs typeface="Open Sans"/>
                <a:sym typeface="Open Sans"/>
              </a:rPr>
              <a:t>being a man </a:t>
            </a:r>
          </a:p>
        </p:txBody>
      </p:sp>
      <p:sp>
        <p:nvSpPr>
          <p:cNvPr name="Freeform 6" id="6"/>
          <p:cNvSpPr/>
          <p:nvPr/>
        </p:nvSpPr>
        <p:spPr>
          <a:xfrm flipH="false" flipV="false" rot="0">
            <a:off x="145256" y="9739056"/>
            <a:ext cx="1017406" cy="678271"/>
          </a:xfrm>
          <a:custGeom>
            <a:avLst/>
            <a:gdLst/>
            <a:ahLst/>
            <a:cxnLst/>
            <a:rect r="r" b="b" t="t" l="l"/>
            <a:pathLst>
              <a:path h="678271" w="1017406">
                <a:moveTo>
                  <a:pt x="0" y="0"/>
                </a:moveTo>
                <a:lnTo>
                  <a:pt x="1017407" y="0"/>
                </a:lnTo>
                <a:lnTo>
                  <a:pt x="1017407" y="678271"/>
                </a:lnTo>
                <a:lnTo>
                  <a:pt x="0" y="678271"/>
                </a:lnTo>
                <a:lnTo>
                  <a:pt x="0" y="0"/>
                </a:lnTo>
                <a:close/>
              </a:path>
            </a:pathLst>
          </a:custGeom>
          <a:blipFill>
            <a:blip r:embed="rId4"/>
            <a:stretch>
              <a:fillRect l="0" t="0" r="0" b="0"/>
            </a:stretch>
          </a:blipFill>
        </p:spPr>
      </p:sp>
      <p:sp>
        <p:nvSpPr>
          <p:cNvPr name="TextBox 7" id="7"/>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319088" y="9739056"/>
            <a:ext cx="1017406" cy="678271"/>
          </a:xfrm>
          <a:custGeom>
            <a:avLst/>
            <a:gdLst/>
            <a:ahLst/>
            <a:cxnLst/>
            <a:rect r="r" b="b" t="t" l="l"/>
            <a:pathLst>
              <a:path h="678271" w="1017406">
                <a:moveTo>
                  <a:pt x="0" y="0"/>
                </a:moveTo>
                <a:lnTo>
                  <a:pt x="1017406" y="0"/>
                </a:lnTo>
                <a:lnTo>
                  <a:pt x="1017406" y="678271"/>
                </a:lnTo>
                <a:lnTo>
                  <a:pt x="0" y="678271"/>
                </a:lnTo>
                <a:lnTo>
                  <a:pt x="0" y="0"/>
                </a:lnTo>
                <a:close/>
              </a:path>
            </a:pathLst>
          </a:custGeom>
          <a:blipFill>
            <a:blip r:embed="rId3"/>
            <a:stretch>
              <a:fillRect l="0" t="0" r="0" b="0"/>
            </a:stretch>
          </a:blipFill>
        </p:spPr>
      </p:sp>
      <p:sp>
        <p:nvSpPr>
          <p:cNvPr name="Freeform 3" id="3"/>
          <p:cNvSpPr/>
          <p:nvPr/>
        </p:nvSpPr>
        <p:spPr>
          <a:xfrm flipH="false" flipV="false" rot="0">
            <a:off x="3493371" y="2266055"/>
            <a:ext cx="11301259" cy="3107846"/>
          </a:xfrm>
          <a:custGeom>
            <a:avLst/>
            <a:gdLst/>
            <a:ahLst/>
            <a:cxnLst/>
            <a:rect r="r" b="b" t="t" l="l"/>
            <a:pathLst>
              <a:path h="3107846" w="11301259">
                <a:moveTo>
                  <a:pt x="0" y="0"/>
                </a:moveTo>
                <a:lnTo>
                  <a:pt x="11301258" y="0"/>
                </a:lnTo>
                <a:lnTo>
                  <a:pt x="11301258" y="3107846"/>
                </a:lnTo>
                <a:lnTo>
                  <a:pt x="0" y="3107846"/>
                </a:lnTo>
                <a:lnTo>
                  <a:pt x="0" y="0"/>
                </a:lnTo>
                <a:close/>
              </a:path>
            </a:pathLst>
          </a:custGeom>
          <a:blipFill>
            <a:blip r:embed="rId4"/>
            <a:stretch>
              <a:fillRect l="0" t="0" r="0" b="0"/>
            </a:stretch>
          </a:blipFill>
        </p:spPr>
      </p:sp>
      <p:sp>
        <p:nvSpPr>
          <p:cNvPr name="TextBox 4" id="4"/>
          <p:cNvSpPr txBox="true"/>
          <p:nvPr/>
        </p:nvSpPr>
        <p:spPr>
          <a:xfrm rot="0">
            <a:off x="2402782" y="618852"/>
            <a:ext cx="13701209" cy="1238796"/>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MODEL COMPARAISON</a:t>
            </a:r>
          </a:p>
        </p:txBody>
      </p:sp>
      <p:sp>
        <p:nvSpPr>
          <p:cNvPr name="TextBox 5" id="5"/>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10</a:t>
            </a:r>
          </a:p>
        </p:txBody>
      </p:sp>
      <p:sp>
        <p:nvSpPr>
          <p:cNvPr name="TextBox 6" id="6"/>
          <p:cNvSpPr txBox="true"/>
          <p:nvPr/>
        </p:nvSpPr>
        <p:spPr>
          <a:xfrm rot="0">
            <a:off x="3327529" y="5715633"/>
            <a:ext cx="11851715" cy="2822575"/>
          </a:xfrm>
          <a:prstGeom prst="rect">
            <a:avLst/>
          </a:prstGeom>
        </p:spPr>
        <p:txBody>
          <a:bodyPr anchor="t" rtlCol="false" tIns="0" lIns="0" bIns="0" rIns="0">
            <a:spAutoFit/>
          </a:bodyPr>
          <a:lstStyle/>
          <a:p>
            <a:pPr algn="l" marL="539749" indent="-269875" lvl="1">
              <a:lnSpc>
                <a:spcPts val="3799"/>
              </a:lnSpc>
              <a:buFont typeface="Arial"/>
              <a:buChar char="•"/>
            </a:pPr>
            <a:r>
              <a:rPr lang="en-US" sz="2499" spc="-74">
                <a:solidFill>
                  <a:srgbClr val="CA0013"/>
                </a:solidFill>
                <a:latin typeface="Inter"/>
                <a:ea typeface="Inter"/>
                <a:cs typeface="Inter"/>
                <a:sym typeface="Inter"/>
              </a:rPr>
              <a:t>Gradient Boosting and Logistic Regression achieved the highest Recall - 0.81 and maintained 71% overall accuracy</a:t>
            </a:r>
          </a:p>
          <a:p>
            <a:pPr algn="l" marL="539749" indent="-269875" lvl="1">
              <a:lnSpc>
                <a:spcPts val="3799"/>
              </a:lnSpc>
              <a:buFont typeface="Arial"/>
              <a:buChar char="•"/>
            </a:pPr>
            <a:r>
              <a:rPr lang="en-US" sz="2499" spc="-74">
                <a:solidFill>
                  <a:srgbClr val="CA0013"/>
                </a:solidFill>
                <a:latin typeface="Inter"/>
                <a:ea typeface="Inter"/>
                <a:cs typeface="Inter"/>
                <a:sym typeface="Inter"/>
              </a:rPr>
              <a:t>All the models demonstrate strong discriminatory ability: AUC ≈ 0.82.</a:t>
            </a:r>
          </a:p>
          <a:p>
            <a:pPr algn="l" marL="539749" indent="-269875" lvl="1">
              <a:lnSpc>
                <a:spcPts val="3799"/>
              </a:lnSpc>
              <a:buFont typeface="Arial"/>
              <a:buChar char="•"/>
            </a:pPr>
            <a:r>
              <a:rPr lang="en-US" sz="2499" spc="-74">
                <a:solidFill>
                  <a:srgbClr val="CA0013"/>
                </a:solidFill>
                <a:latin typeface="Inter"/>
                <a:ea typeface="Inter"/>
                <a:cs typeface="Inter"/>
                <a:sym typeface="Inter"/>
              </a:rPr>
              <a:t>Complex models did not significantly outperform Logistic Regression</a:t>
            </a:r>
          </a:p>
          <a:p>
            <a:pPr algn="l" marL="539749" indent="-269875" lvl="1">
              <a:lnSpc>
                <a:spcPts val="3799"/>
              </a:lnSpc>
              <a:buFont typeface="Arial"/>
              <a:buChar char="•"/>
            </a:pPr>
            <a:r>
              <a:rPr lang="en-US" sz="2499" spc="-74">
                <a:solidFill>
                  <a:srgbClr val="CA0013"/>
                </a:solidFill>
                <a:latin typeface="Inter"/>
                <a:ea typeface="Inter"/>
                <a:cs typeface="Inter"/>
                <a:sym typeface="Inter"/>
              </a:rPr>
              <a:t>L</a:t>
            </a:r>
            <a:r>
              <a:rPr lang="en-US" sz="2499" spc="-74">
                <a:solidFill>
                  <a:srgbClr val="CA0013"/>
                </a:solidFill>
                <a:latin typeface="Inter"/>
                <a:ea typeface="Inter"/>
                <a:cs typeface="Inter"/>
                <a:sym typeface="Inter"/>
              </a:rPr>
              <a:t>ess extensive hyperparameter search due to computational cost</a:t>
            </a:r>
          </a:p>
          <a:p>
            <a:pPr algn="l" marL="539749" indent="-269875" lvl="1">
              <a:lnSpc>
                <a:spcPts val="3799"/>
              </a:lnSpc>
              <a:buFont typeface="Arial"/>
              <a:buChar char="•"/>
            </a:pPr>
            <a:r>
              <a:rPr lang="en-US" sz="2499" spc="-74">
                <a:solidFill>
                  <a:srgbClr val="CA0013"/>
                </a:solidFill>
                <a:latin typeface="Inter"/>
                <a:ea typeface="Inter"/>
                <a:cs typeface="Inter"/>
                <a:sym typeface="Inter"/>
              </a:rPr>
              <a:t>The feature set limits discrimination performance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0617444" y="1853691"/>
            <a:ext cx="5332242" cy="4749728"/>
          </a:xfrm>
          <a:custGeom>
            <a:avLst/>
            <a:gdLst/>
            <a:ahLst/>
            <a:cxnLst/>
            <a:rect r="r" b="b" t="t" l="l"/>
            <a:pathLst>
              <a:path h="4749728" w="5332242">
                <a:moveTo>
                  <a:pt x="0" y="0"/>
                </a:moveTo>
                <a:lnTo>
                  <a:pt x="5332242" y="0"/>
                </a:lnTo>
                <a:lnTo>
                  <a:pt x="5332242" y="4749728"/>
                </a:lnTo>
                <a:lnTo>
                  <a:pt x="0" y="4749728"/>
                </a:lnTo>
                <a:lnTo>
                  <a:pt x="0" y="0"/>
                </a:lnTo>
                <a:close/>
              </a:path>
            </a:pathLst>
          </a:custGeom>
          <a:blipFill>
            <a:blip r:embed="rId2"/>
            <a:stretch>
              <a:fillRect l="0" t="0" r="0" b="0"/>
            </a:stretch>
          </a:blipFill>
        </p:spPr>
      </p:sp>
      <p:sp>
        <p:nvSpPr>
          <p:cNvPr name="Freeform 3" id="3"/>
          <p:cNvSpPr/>
          <p:nvPr/>
        </p:nvSpPr>
        <p:spPr>
          <a:xfrm flipH="false" flipV="false" rot="0">
            <a:off x="2450407" y="6984062"/>
            <a:ext cx="13546904" cy="1371624"/>
          </a:xfrm>
          <a:custGeom>
            <a:avLst/>
            <a:gdLst/>
            <a:ahLst/>
            <a:cxnLst/>
            <a:rect r="r" b="b" t="t" l="l"/>
            <a:pathLst>
              <a:path h="1371624" w="13546904">
                <a:moveTo>
                  <a:pt x="0" y="0"/>
                </a:moveTo>
                <a:lnTo>
                  <a:pt x="13546904" y="0"/>
                </a:lnTo>
                <a:lnTo>
                  <a:pt x="13546904" y="1371624"/>
                </a:lnTo>
                <a:lnTo>
                  <a:pt x="0" y="1371624"/>
                </a:lnTo>
                <a:lnTo>
                  <a:pt x="0" y="0"/>
                </a:lnTo>
                <a:close/>
              </a:path>
            </a:pathLst>
          </a:custGeom>
          <a:blipFill>
            <a:blip r:embed="rId3"/>
            <a:stretch>
              <a:fillRect l="0" t="0" r="0" b="0"/>
            </a:stretch>
          </a:blipFill>
        </p:spPr>
      </p:sp>
      <p:sp>
        <p:nvSpPr>
          <p:cNvPr name="TextBox 4" id="4"/>
          <p:cNvSpPr txBox="true"/>
          <p:nvPr/>
        </p:nvSpPr>
        <p:spPr>
          <a:xfrm rot="0">
            <a:off x="2402782" y="618852"/>
            <a:ext cx="13701209" cy="1234839"/>
          </a:xfrm>
          <a:prstGeom prst="rect">
            <a:avLst/>
          </a:prstGeom>
        </p:spPr>
        <p:txBody>
          <a:bodyPr anchor="t" rtlCol="false" tIns="0" lIns="0" bIns="0" rIns="0">
            <a:spAutoFit/>
          </a:bodyPr>
          <a:lstStyle/>
          <a:p>
            <a:pPr algn="ctr" marL="0" indent="0" lvl="0">
              <a:lnSpc>
                <a:spcPts val="8618"/>
              </a:lnSpc>
            </a:pPr>
            <a:r>
              <a:rPr lang="en-US" b="true" sz="10910" spc="-1287">
                <a:solidFill>
                  <a:srgbClr val="CA0013"/>
                </a:solidFill>
                <a:latin typeface="Inter Bold"/>
                <a:ea typeface="Inter Bold"/>
                <a:cs typeface="Inter Bold"/>
                <a:sym typeface="Inter Bold"/>
              </a:rPr>
              <a:t>CONCLUSION</a:t>
            </a:r>
          </a:p>
        </p:txBody>
      </p:sp>
      <p:sp>
        <p:nvSpPr>
          <p:cNvPr name="TextBox 5" id="5"/>
          <p:cNvSpPr txBox="true"/>
          <p:nvPr/>
        </p:nvSpPr>
        <p:spPr>
          <a:xfrm rot="0">
            <a:off x="2590874" y="2679155"/>
            <a:ext cx="7171580" cy="3051175"/>
          </a:xfrm>
          <a:prstGeom prst="rect">
            <a:avLst/>
          </a:prstGeom>
        </p:spPr>
        <p:txBody>
          <a:bodyPr anchor="t" rtlCol="false" tIns="0" lIns="0" bIns="0" rIns="0">
            <a:spAutoFit/>
          </a:bodyPr>
          <a:lstStyle/>
          <a:p>
            <a:pPr algn="l">
              <a:lnSpc>
                <a:spcPts val="3499"/>
              </a:lnSpc>
            </a:pPr>
            <a:r>
              <a:rPr lang="en-US" b="true" sz="2499">
                <a:solidFill>
                  <a:srgbClr val="CA0013"/>
                </a:solidFill>
                <a:latin typeface="Open Sans Bold"/>
                <a:ea typeface="Open Sans Bold"/>
                <a:cs typeface="Open Sans Bold"/>
                <a:sym typeface="Open Sans Bold"/>
              </a:rPr>
              <a:t>BEST MODEL:</a:t>
            </a:r>
          </a:p>
          <a:p>
            <a:pPr algn="l">
              <a:lnSpc>
                <a:spcPts val="3499"/>
              </a:lnSpc>
            </a:pPr>
            <a:r>
              <a:rPr lang="en-US" sz="2499">
                <a:solidFill>
                  <a:srgbClr val="CA0013"/>
                </a:solidFill>
                <a:latin typeface="Open Sans"/>
                <a:ea typeface="Open Sans"/>
                <a:cs typeface="Open Sans"/>
                <a:sym typeface="Open Sans"/>
              </a:rPr>
              <a:t>Gradient Boosting with Binary Logistic Objective</a:t>
            </a:r>
          </a:p>
          <a:p>
            <a:pPr algn="l">
              <a:lnSpc>
                <a:spcPts val="3499"/>
              </a:lnSpc>
            </a:pPr>
          </a:p>
          <a:p>
            <a:pPr algn="l">
              <a:lnSpc>
                <a:spcPts val="3499"/>
              </a:lnSpc>
            </a:pPr>
            <a:r>
              <a:rPr lang="en-US" b="true" sz="2499">
                <a:solidFill>
                  <a:srgbClr val="CA0013"/>
                </a:solidFill>
                <a:latin typeface="Open Sans Bold"/>
                <a:ea typeface="Open Sans Bold"/>
                <a:cs typeface="Open Sans Bold"/>
                <a:sym typeface="Open Sans Bold"/>
              </a:rPr>
              <a:t>REASONING:</a:t>
            </a:r>
          </a:p>
          <a:p>
            <a:pPr algn="l" marL="539749" indent="-269875" lvl="1">
              <a:lnSpc>
                <a:spcPts val="3499"/>
              </a:lnSpc>
              <a:buFont typeface="Arial"/>
              <a:buChar char="•"/>
            </a:pPr>
            <a:r>
              <a:rPr lang="en-US" sz="2499">
                <a:solidFill>
                  <a:srgbClr val="CA0013"/>
                </a:solidFill>
                <a:latin typeface="Open Sans"/>
                <a:ea typeface="Open Sans"/>
                <a:cs typeface="Open Sans"/>
                <a:sym typeface="Open Sans"/>
              </a:rPr>
              <a:t>Marginally higher AUC</a:t>
            </a:r>
          </a:p>
          <a:p>
            <a:pPr algn="l" marL="539749" indent="-269875" lvl="1">
              <a:lnSpc>
                <a:spcPts val="3499"/>
              </a:lnSpc>
              <a:buFont typeface="Arial"/>
              <a:buChar char="•"/>
            </a:pPr>
            <a:r>
              <a:rPr lang="en-US" sz="2499">
                <a:solidFill>
                  <a:srgbClr val="CA0013"/>
                </a:solidFill>
                <a:latin typeface="Open Sans"/>
                <a:ea typeface="Open Sans"/>
                <a:cs typeface="Open Sans"/>
                <a:sym typeface="Open Sans"/>
              </a:rPr>
              <a:t>Highest number of True Positives</a:t>
            </a:r>
          </a:p>
          <a:p>
            <a:pPr algn="l" marL="539749" indent="-269875" lvl="1">
              <a:lnSpc>
                <a:spcPts val="3499"/>
              </a:lnSpc>
              <a:spcBef>
                <a:spcPct val="0"/>
              </a:spcBef>
              <a:buFont typeface="Arial"/>
              <a:buChar char="•"/>
            </a:pPr>
            <a:r>
              <a:rPr lang="en-US" sz="2499">
                <a:solidFill>
                  <a:srgbClr val="CA0013"/>
                </a:solidFill>
                <a:latin typeface="Open Sans"/>
                <a:ea typeface="Open Sans"/>
                <a:cs typeface="Open Sans"/>
                <a:sym typeface="Open Sans"/>
              </a:rPr>
              <a:t>Good overall accuracy</a:t>
            </a:r>
          </a:p>
        </p:txBody>
      </p:sp>
      <p:sp>
        <p:nvSpPr>
          <p:cNvPr name="Freeform 6" id="6"/>
          <p:cNvSpPr/>
          <p:nvPr/>
        </p:nvSpPr>
        <p:spPr>
          <a:xfrm flipH="false" flipV="false" rot="0">
            <a:off x="319088" y="9739056"/>
            <a:ext cx="1017406" cy="678271"/>
          </a:xfrm>
          <a:custGeom>
            <a:avLst/>
            <a:gdLst/>
            <a:ahLst/>
            <a:cxnLst/>
            <a:rect r="r" b="b" t="t" l="l"/>
            <a:pathLst>
              <a:path h="678271" w="1017406">
                <a:moveTo>
                  <a:pt x="0" y="0"/>
                </a:moveTo>
                <a:lnTo>
                  <a:pt x="1017406" y="0"/>
                </a:lnTo>
                <a:lnTo>
                  <a:pt x="1017406" y="678271"/>
                </a:lnTo>
                <a:lnTo>
                  <a:pt x="0" y="678271"/>
                </a:lnTo>
                <a:lnTo>
                  <a:pt x="0" y="0"/>
                </a:lnTo>
                <a:close/>
              </a:path>
            </a:pathLst>
          </a:custGeom>
          <a:blipFill>
            <a:blip r:embed="rId4"/>
            <a:stretch>
              <a:fillRect l="0" t="0" r="0" b="0"/>
            </a:stretch>
          </a:blipFill>
        </p:spPr>
      </p:sp>
      <p:sp>
        <p:nvSpPr>
          <p:cNvPr name="TextBox 7" id="7"/>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2293395" y="3381969"/>
            <a:ext cx="13701209" cy="3523062"/>
            <a:chOff x="0" y="0"/>
            <a:chExt cx="18268279" cy="4697416"/>
          </a:xfrm>
        </p:grpSpPr>
        <p:sp>
          <p:nvSpPr>
            <p:cNvPr name="TextBox 3" id="3"/>
            <p:cNvSpPr txBox="true"/>
            <p:nvPr/>
          </p:nvSpPr>
          <p:spPr>
            <a:xfrm rot="0">
              <a:off x="0" y="419100"/>
              <a:ext cx="18268279" cy="3233952"/>
            </a:xfrm>
            <a:prstGeom prst="rect">
              <a:avLst/>
            </a:prstGeom>
          </p:spPr>
          <p:txBody>
            <a:bodyPr anchor="t" rtlCol="false" tIns="0" lIns="0" bIns="0" rIns="0">
              <a:spAutoFit/>
            </a:bodyPr>
            <a:lstStyle/>
            <a:p>
              <a:pPr algn="ctr" marL="0" indent="0" lvl="0">
                <a:lnSpc>
                  <a:spcPts val="8618"/>
                </a:lnSpc>
              </a:pPr>
              <a:r>
                <a:rPr lang="en-US" b="true" sz="10910" spc="-1287">
                  <a:solidFill>
                    <a:srgbClr val="CA0013"/>
                  </a:solidFill>
                  <a:latin typeface="Inter Bold"/>
                  <a:ea typeface="Inter Bold"/>
                  <a:cs typeface="Inter Bold"/>
                  <a:sym typeface="Inter Bold"/>
                </a:rPr>
                <a:t>THANK YOU FOR YOUR ATTENTION</a:t>
              </a:r>
            </a:p>
          </p:txBody>
        </p:sp>
        <p:sp>
          <p:nvSpPr>
            <p:cNvPr name="TextBox 4" id="4"/>
            <p:cNvSpPr txBox="true"/>
            <p:nvPr/>
          </p:nvSpPr>
          <p:spPr>
            <a:xfrm rot="0">
              <a:off x="0" y="3816882"/>
              <a:ext cx="18268279" cy="880533"/>
            </a:xfrm>
            <a:prstGeom prst="rect">
              <a:avLst/>
            </a:prstGeom>
          </p:spPr>
          <p:txBody>
            <a:bodyPr anchor="t" rtlCol="false" tIns="0" lIns="0" bIns="0" rIns="0">
              <a:spAutoFit/>
            </a:bodyPr>
            <a:lstStyle/>
            <a:p>
              <a:pPr algn="ctr">
                <a:lnSpc>
                  <a:spcPts val="5599"/>
                </a:lnSpc>
                <a:spcBef>
                  <a:spcPct val="0"/>
                </a:spcBef>
              </a:pPr>
              <a:r>
                <a:rPr lang="en-US" sz="3999">
                  <a:solidFill>
                    <a:srgbClr val="CA0013"/>
                  </a:solidFill>
                  <a:latin typeface="Inter"/>
                  <a:ea typeface="Inter"/>
                  <a:cs typeface="Inter"/>
                  <a:sym typeface="Inter"/>
                </a:rPr>
                <a:t>ANY QUESTIONS?</a:t>
              </a:r>
            </a:p>
          </p:txBody>
        </p:sp>
      </p:grpSp>
      <p:sp>
        <p:nvSpPr>
          <p:cNvPr name="Freeform 5" id="5"/>
          <p:cNvSpPr/>
          <p:nvPr/>
        </p:nvSpPr>
        <p:spPr>
          <a:xfrm flipH="false" flipV="false" rot="0">
            <a:off x="319088" y="9739056"/>
            <a:ext cx="1017406" cy="678271"/>
          </a:xfrm>
          <a:custGeom>
            <a:avLst/>
            <a:gdLst/>
            <a:ahLst/>
            <a:cxnLst/>
            <a:rect r="r" b="b" t="t" l="l"/>
            <a:pathLst>
              <a:path h="678271" w="1017406">
                <a:moveTo>
                  <a:pt x="0" y="0"/>
                </a:moveTo>
                <a:lnTo>
                  <a:pt x="1017406" y="0"/>
                </a:lnTo>
                <a:lnTo>
                  <a:pt x="1017406" y="678271"/>
                </a:lnTo>
                <a:lnTo>
                  <a:pt x="0" y="678271"/>
                </a:lnTo>
                <a:lnTo>
                  <a:pt x="0" y="0"/>
                </a:lnTo>
                <a:close/>
              </a:path>
            </a:pathLst>
          </a:custGeom>
          <a:blipFill>
            <a:blip r:embed="rId2"/>
            <a:stretch>
              <a:fillRect l="0" t="0" r="0" b="0"/>
            </a:stretch>
          </a:blipFill>
        </p:spPr>
      </p:sp>
      <p:sp>
        <p:nvSpPr>
          <p:cNvPr name="TextBox 6" id="6"/>
          <p:cNvSpPr txBox="true"/>
          <p:nvPr/>
        </p:nvSpPr>
        <p:spPr>
          <a:xfrm rot="0">
            <a:off x="0" y="987975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A0013"/>
                </a:solidFill>
                <a:latin typeface="Open Sans"/>
                <a:ea typeface="Open Sans"/>
                <a:cs typeface="Open Sans"/>
                <a:sym typeface="Open San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DAHEwoDSiE4</dc:identifier>
  <dcterms:modified xsi:type="dcterms:W3CDTF">2011-08-01T06:04:30Z</dcterms:modified>
  <cp:revision>1</cp:revision>
  <dc:title>Machine Learning 1 Group Project</dc:title>
</cp:coreProperties>
</file>